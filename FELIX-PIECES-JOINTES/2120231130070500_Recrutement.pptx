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4FCC42-9C36-45BB-A3EB-FD66F2103919}">
  <a:tblStyle styleId="{8A4FCC42-9C36-45BB-A3EB-FD66F21039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17DFB9D-F632-4AB7-AB83-619FA37E2E0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Roboto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9d9ea9ff5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9d9ea9ff5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9d9ea9ff5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9d9ea9ff5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9d9ea9ff5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9d9ea9ff5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d9ea9ff5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9d9ea9ff5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9d9ea9ff5e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9d9ea9ff5e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9d9ea9ff5e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9d9ea9ff5e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9d9ea9ff5e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9d9ea9ff5e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9d9ea9ff5e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9d9ea9ff5e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9d9ea9ff5e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9d9ea9ff5e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9d9ea9ff5e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9d9ea9ff5e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6y4k-KgM0g0" TargetMode="External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311700" y="31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Attirer</a:t>
            </a: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704425" y="1594850"/>
            <a:ext cx="75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5"/>
          <p:cNvSpPr txBox="1"/>
          <p:nvPr/>
        </p:nvSpPr>
        <p:spPr>
          <a:xfrm>
            <a:off x="744300" y="1199225"/>
            <a:ext cx="765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Situation de l'emploi et pénurie de talents au Québec :</a:t>
            </a:r>
            <a:endParaRPr/>
          </a:p>
        </p:txBody>
      </p:sp>
      <p:sp>
        <p:nvSpPr>
          <p:cNvPr id="102" name="Google Shape;102;p25"/>
          <p:cNvSpPr txBox="1"/>
          <p:nvPr/>
        </p:nvSpPr>
        <p:spPr>
          <a:xfrm>
            <a:off x="637975" y="1913850"/>
            <a:ext cx="7655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fr"/>
              <a:t>Projection de l'emploi au Québec:</a:t>
            </a:r>
            <a:r>
              <a:rPr lang="fr"/>
              <a:t> 1.6 million de postes à pourvoir au Québec d'ici 2030.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fr"/>
              <a:t>Aggravation de la pénurie de main-d'œuvre:</a:t>
            </a:r>
            <a:r>
              <a:rPr lang="fr"/>
              <a:t> Situation de l'emploi qui se détériore, prévue pour être 468% pire.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fr"/>
              <a:t>Déséquilibre du marché du travail:</a:t>
            </a:r>
            <a:r>
              <a:rPr lang="fr"/>
              <a:t> Pour chaque personne qui sort du marché, seulement 0,8 personne pour combler le poste.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fr"/>
              <a:t>Record historique de l'emploi:</a:t>
            </a:r>
            <a:r>
              <a:rPr lang="fr"/>
              <a:t> Le taux de chômage en mars 2021 était de 1%, le plus bas jamais enregistré selon Statistique Canada.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Recrutement </a:t>
            </a:r>
            <a:endParaRPr/>
          </a:p>
        </p:txBody>
      </p:sp>
      <p:sp>
        <p:nvSpPr>
          <p:cNvPr id="108" name="Google Shape;108;p26"/>
          <p:cNvSpPr txBox="1"/>
          <p:nvPr/>
        </p:nvSpPr>
        <p:spPr>
          <a:xfrm>
            <a:off x="744300" y="1156300"/>
            <a:ext cx="7655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Pénurie de talents Plus de 90 % des employeurs rencontrent des difficultés pour remplir des postes.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Changement d'emploi 44 % des employés ont cherché de nouveaux postes en 2022.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Techniques d'entretien 83 % des talents pourraient changer d'avis sur une entreprise après une mauvaise expérience en entretien.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Qualité des embauches Amélioration de 70 % dans la qualité des recrutements grâce à une expérience candidat positive.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Concurrence pour le recrutement 52 % font face à une concurrence accrue pour attirer les talents.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020"/>
              <a:t>Élargir votre Horizon de Recrutement : Au-delà des Annonces sur Indeed</a:t>
            </a:r>
            <a:endParaRPr sz="2020"/>
          </a:p>
        </p:txBody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152200" y="1310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Perception Courante : Beaucoup pensent que poster une offre d'emploi sur une plateforme comme Indeed est suffisant pour attirer tous les candidats potentiels.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Réalité du Marché : En réalité, le marché est fragmenté et nécessite une approche diversifiée pour atteindre différents groupes de candidats.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Approches Multiples Nécessaires : Pour maximiser la portée et l'efficacité, les employeurs doivent envisager plusieurs canaux de recrutement.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Portée Organique : Engager les candidats par le biais de publications de contenu et de réseaux sociaux professionnels.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Publicité Payante : Utiliser les annonces payantes pour cibler activement les candidats potentiels au-delà de ceux qui recherchent activement un emploi.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Outreach : Diviser les efforts de sensibilisation en deux catégories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Warm Outreach : Se connecter avec des candidats qui ont déjà montré un intérêt pour votre entreprise ou ont été recommandés.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Cold Outreach : Approcher des candidats qui n'ont pas encore exprimé d'intérêt ou ne sont pas au courant des opportunités.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Références : Encourager les employés actuels à recommander des candidats qualifiés.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Affiliations : Collaborer avec des associations professionnelles, des écoles, et des groupes d'intérêt pour attirer des talents spécialisés.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Vision Limitée : Se limiter à une plateforme unique comme Indeed peut conduire à une sous-estimation de la taille réelle du marché des talents.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Stratégie Holistique : Adopter une stratégie de recrutement holistique qui combine diverses méthodes pour atteindre un spectre plus large de candidats potentiels.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850" y="1152475"/>
            <a:ext cx="351646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220"/>
              <a:t>Le Processus de Prospection Intensive pour le Recrutement"</a:t>
            </a:r>
            <a:endParaRPr sz="2220"/>
          </a:p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Approche Multicanal : Utilisation de divers moyens de communication tels que les e-mails, les appels téléphoniques, les messages directs, les SMS, et les messages vocaux pour atteindre les candidats potentiels.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Volume de Contacts Élevé : Nécessité de contacter un grand nombre d'individus pour identifier les candidats intéressés, sachant que le taux de réponse initial est généralement bas.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Suivi Rigoureux : Importance d'un suivi conséquent pour chaque mode de contact, afin d'augmenter les chances d'obtenir des réponses.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Analyse des Taux de Réponse : Observation que seule une petite fraction des contacts répondra et encore moins exprimera un intérêt d'achat (ou dans ce cas, un intérêt pour une position).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Temps et Ressources : Investissement considérable de temps et de ressources pour engager les candidats, illustrant l'importance de la persévérance et d'une stratégie bien planifiée.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Optimisation des Taux de Conversion : L'objectif est d'augmenter le pourcentage de candidats qui répondent positivement et progressent dans le processus de recrutement.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Gestion des Attentes : Être réaliste quant aux résultats escomptés et ajuster la stratégie de prospection en fonction de l'analyse des données de réponse.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8"/>
          <p:cNvPicPr preferRelativeResize="0"/>
          <p:nvPr/>
        </p:nvPicPr>
        <p:blipFill rotWithShape="1">
          <a:blip r:embed="rId3">
            <a:alphaModFix/>
          </a:blip>
          <a:srcRect b="32876" l="0" r="0" t="0"/>
          <a:stretch/>
        </p:blipFill>
        <p:spPr>
          <a:xfrm>
            <a:off x="4279625" y="1591825"/>
            <a:ext cx="4686300" cy="25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>
            <a:off x="311700" y="165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Stratégie de Recrutement - Investissements et Plateformes</a:t>
            </a:r>
            <a:endParaRPr sz="2400"/>
          </a:p>
        </p:txBody>
      </p:sp>
      <p:sp>
        <p:nvSpPr>
          <p:cNvPr id="128" name="Google Shape;128;p29"/>
          <p:cNvSpPr txBox="1"/>
          <p:nvPr/>
        </p:nvSpPr>
        <p:spPr>
          <a:xfrm>
            <a:off x="398725" y="685450"/>
            <a:ext cx="85206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Réseau Personnel : Utilisation des réseaux sociaux de notre équipe et pages pour toucher un large éventail de candidats potentiels dans le secteur. </a:t>
            </a:r>
            <a:r>
              <a:rPr lang="fr">
                <a:solidFill>
                  <a:schemeClr val="dk1"/>
                </a:solidFill>
              </a:rPr>
              <a:t>Script de post a publier sur leur propres reseaux sociaux.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Démarchage Direct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Chasse de tête : Investissement de 30 000 $ par an dans une plateforme qui offre un accès privilégié aux informations de contact des professionnels.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LinkedIn : Licence de recruteur spécialisé à 10 000 $ par an pour une prospection efficace et ciblée.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Publicités Payantes : Diffusion d'annonces sur des sites tels qu'Indeed et LinkedIn pour maximiser la visibilité de nos offres d'emploi.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Contenu Organique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tant que propriétaires de groupes "Spotted" à travers le Québec, nous cultivons un engagement communautaire en partageant des opportunités et en favorisant des interactions significatives. Nous mettons aussi les offres d’emploi sur notre site web.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Recruteurs (Partenaires) : Alliances stratégiques avec des cabinets de recrutement et de placement pour étendre notre portée, associations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Références Internes : Système incitatif pour que vos employés recommandent des professionnels compétents de leur propre réseau. script a envoyé a leur propres employés avec incentive.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y new book $100M Leads is now LIVE. Grab your copy on Amazon here 👇 &#10;https://a.co/d/i1UPzCN&#10;&#10;----&#10;*Local Business Owners* I'm looking to invest in chains with at least $1M in combined annual PROFIT who want to scale. If that's you , would love to chat. Click the link below to fill out the form:&#10;➡️ https://www.acquisition.com/&#10;&#10;For everyone else, I make my money buying and growing businesses. I make this free content with the hopes you use it to grow your business enough to partner with us." id="135" name="Google Shape;135;p30" title="The Reason You Can't Trust Your Tea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5322"/>
            <a:ext cx="8520600" cy="4792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Notre processus de recrutement</a:t>
            </a:r>
            <a:endParaRPr/>
          </a:p>
        </p:txBody>
      </p:sp>
      <p:grpSp>
        <p:nvGrpSpPr>
          <p:cNvPr id="141" name="Google Shape;141;p31"/>
          <p:cNvGrpSpPr/>
          <p:nvPr/>
        </p:nvGrpSpPr>
        <p:grpSpPr>
          <a:xfrm>
            <a:off x="0" y="1189989"/>
            <a:ext cx="2214600" cy="3217636"/>
            <a:chOff x="0" y="1189989"/>
            <a:chExt cx="2214600" cy="3217636"/>
          </a:xfrm>
        </p:grpSpPr>
        <p:sp>
          <p:nvSpPr>
            <p:cNvPr id="142" name="Google Shape;142;p31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802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Présélection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" name="Google Shape;143;p31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>
                  <a:latin typeface="Roboto"/>
                  <a:ea typeface="Roboto"/>
                  <a:cs typeface="Roboto"/>
                  <a:sym typeface="Roboto"/>
                </a:rPr>
                <a:t>Filtrer les candidats en fonction des exigences préliminaires.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" name="Google Shape;144;p31"/>
          <p:cNvGrpSpPr/>
          <p:nvPr/>
        </p:nvGrpSpPr>
        <p:grpSpPr>
          <a:xfrm>
            <a:off x="1838325" y="1189775"/>
            <a:ext cx="2064000" cy="3217850"/>
            <a:chOff x="1838325" y="1189775"/>
            <a:chExt cx="2064000" cy="3217850"/>
          </a:xfrm>
        </p:grpSpPr>
        <p:sp>
          <p:nvSpPr>
            <p:cNvPr id="145" name="Google Shape;145;p31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Entretien sur les attentes et la culture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31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>
                  <a:latin typeface="Roboto"/>
                  <a:ea typeface="Roboto"/>
                  <a:cs typeface="Roboto"/>
                  <a:sym typeface="Roboto"/>
                </a:rPr>
                <a:t>Discuter des attentes de l'entreprise et comprendre si la culture d'entreprise convient au candidat.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" name="Google Shape;147;p31"/>
          <p:cNvGrpSpPr/>
          <p:nvPr/>
        </p:nvGrpSpPr>
        <p:grpSpPr>
          <a:xfrm>
            <a:off x="3516750" y="1189775"/>
            <a:ext cx="2064000" cy="3217850"/>
            <a:chOff x="3516750" y="1189775"/>
            <a:chExt cx="2064000" cy="3217850"/>
          </a:xfrm>
        </p:grpSpPr>
        <p:sp>
          <p:nvSpPr>
            <p:cNvPr id="148" name="Google Shape;148;p31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02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Entretien avec test de compétences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" name="Google Shape;149;p31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>
                  <a:latin typeface="Roboto"/>
                  <a:ea typeface="Roboto"/>
                  <a:cs typeface="Roboto"/>
                  <a:sym typeface="Roboto"/>
                </a:rPr>
                <a:t>Évaluer les compétences techniques ou professionnelles du candidat par des tests pratiques.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0" name="Google Shape;150;p31"/>
          <p:cNvGrpSpPr/>
          <p:nvPr/>
        </p:nvGrpSpPr>
        <p:grpSpPr>
          <a:xfrm>
            <a:off x="6874025" y="1189775"/>
            <a:ext cx="2064000" cy="3217850"/>
            <a:chOff x="6874025" y="1189775"/>
            <a:chExt cx="2064000" cy="3217850"/>
          </a:xfrm>
        </p:grpSpPr>
        <p:sp>
          <p:nvSpPr>
            <p:cNvPr id="151" name="Google Shape;151;p31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D838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Entretien avec vous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52;p31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>
                  <a:latin typeface="Roboto"/>
                  <a:ea typeface="Roboto"/>
                  <a:cs typeface="Roboto"/>
                  <a:sym typeface="Roboto"/>
                </a:rPr>
                <a:t>Le dernier entretien où le PDG évalue l'adéquation globale du candidat avec la vision stratégique de l'entreprise.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3" name="Google Shape;153;p31"/>
          <p:cNvGrpSpPr/>
          <p:nvPr/>
        </p:nvGrpSpPr>
        <p:grpSpPr>
          <a:xfrm>
            <a:off x="5195350" y="1189775"/>
            <a:ext cx="2064000" cy="3217850"/>
            <a:chOff x="5195350" y="1189775"/>
            <a:chExt cx="2064000" cy="3217850"/>
          </a:xfrm>
        </p:grpSpPr>
        <p:sp>
          <p:nvSpPr>
            <p:cNvPr id="154" name="Google Shape;154;p31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Entretien d'alignement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" name="Google Shape;155;p31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>
                  <a:latin typeface="Roboto"/>
                  <a:ea typeface="Roboto"/>
                  <a:cs typeface="Roboto"/>
                  <a:sym typeface="Roboto"/>
                </a:rPr>
                <a:t>Vérifier l'alignement des valeurs et des objectifs du candidat avec ceux de l'entreprise.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6" name="Google Shape;156;p31"/>
          <p:cNvSpPr txBox="1"/>
          <p:nvPr/>
        </p:nvSpPr>
        <p:spPr>
          <a:xfrm>
            <a:off x="624675" y="3748000"/>
            <a:ext cx="765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Impact des erreurs de recrutement : 75 % des entreprises admettent avoir sélectionné des candidats inappropriés pour des postes, entraînant un coût moyen de 15 000 $ par erreur d'embauche.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Nos forfaits flexibles et sur mesure</a:t>
            </a:r>
            <a:endParaRPr/>
          </a:p>
        </p:txBody>
      </p:sp>
      <p:graphicFrame>
        <p:nvGraphicFramePr>
          <p:cNvPr id="162" name="Google Shape;162;p32"/>
          <p:cNvGraphicFramePr/>
          <p:nvPr/>
        </p:nvGraphicFramePr>
        <p:xfrm>
          <a:off x="2159000" y="125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{8A4FCC42-9C36-45BB-A3EB-FD66F2103919}</a:tableStyleId>
              </a:tblPr>
              <a:tblGrid>
                <a:gridCol w="2413000"/>
                <a:gridCol w="24130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Notre Modèle Flexible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Frais 20 % du salaire: $20,000 (pour un salaire de $100,000)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Honoraires horaires: $2,940 - $5,880 (20-40h à $147/h)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Frais de Plateforme: $690 - $1,380 (14-60 jours à $23/jour)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	$20,000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$3,630 - $7,260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éconmie : $12,740 - $16,370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" name="Google Shape;167;p3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{217DFB9D-F632-4AB7-AB83-619FA37E2E03}</a:tableStyleId>
              </a:tblPr>
              <a:tblGrid>
                <a:gridCol w="30099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Essentiel 16 %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Avancé 18 %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A-Player 20 %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Affichage sur des sites de carrière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10 sites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30 sites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50 sites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Présence sur les réseaux sociaux et forums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Recruteurs attitrés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 recruteur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 recruteurs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3 recruteurs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Recruteurs disponibles en tout temps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Budget de recherche maximal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Sélection et Entrevues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Tris des candidatures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Service chasse de tête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Entrevue téléphonique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Entrevue virtuelle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Entrevue en personne à nos bureaux lorsque possible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Qualification et Suivi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Suivis en personne à vos bureaux avec un de vos recruteurs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Prise d’une référence professionnelle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 référence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 références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3 références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Confirmations d’emploi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Vérification des antécédents (QC)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Test de personnalité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Enquête de crédit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Confirmation de scolarité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Test d’anglais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Confirmation d’ordre professionnel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Plumitif QC et CAN incluant municipal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Confirmations d’études/emplois internationales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Enregistrement des appels vocaux avec les candidats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Examen de santé (sous certaines conditions)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Test connaissances informatiques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Garantie de placement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30 jours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90 jours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Suivis après le placement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p33"/>
          <p:cNvSpPr txBox="1"/>
          <p:nvPr/>
        </p:nvSpPr>
        <p:spPr>
          <a:xfrm>
            <a:off x="6592225" y="1014575"/>
            <a:ext cx="256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Sans engagement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9" name="Google Shape;169;p33"/>
          <p:cNvSpPr txBox="1"/>
          <p:nvPr/>
        </p:nvSpPr>
        <p:spPr>
          <a:xfrm>
            <a:off x="6685225" y="1535400"/>
            <a:ext cx="223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Sans risque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0" name="Google Shape;170;p33"/>
          <p:cNvSpPr txBox="1"/>
          <p:nvPr/>
        </p:nvSpPr>
        <p:spPr>
          <a:xfrm>
            <a:off x="6592225" y="2056225"/>
            <a:ext cx="24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100 % résultat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33"/>
          <p:cNvSpPr txBox="1"/>
          <p:nvPr/>
        </p:nvSpPr>
        <p:spPr>
          <a:xfrm>
            <a:off x="6620875" y="2577050"/>
            <a:ext cx="236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50 % avant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33"/>
          <p:cNvSpPr txBox="1"/>
          <p:nvPr/>
        </p:nvSpPr>
        <p:spPr>
          <a:xfrm>
            <a:off x="6609025" y="3097875"/>
            <a:ext cx="25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50 % après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idx="1" type="body"/>
          </p:nvPr>
        </p:nvSpPr>
        <p:spPr>
          <a:xfrm>
            <a:off x="311700" y="315175"/>
            <a:ext cx="8520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Forfait à l’heure</a:t>
            </a:r>
            <a:endParaRPr/>
          </a:p>
        </p:txBody>
      </p:sp>
      <p:graphicFrame>
        <p:nvGraphicFramePr>
          <p:cNvPr id="178" name="Google Shape;178;p34"/>
          <p:cNvGraphicFramePr/>
          <p:nvPr/>
        </p:nvGraphicFramePr>
        <p:xfrm>
          <a:off x="872750" y="129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{8A4FCC42-9C36-45BB-A3EB-FD66F2103919}</a:tableStyleId>
              </a:tblPr>
              <a:tblGrid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Banque d’heure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175 $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157 $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10h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147 $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20h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139 $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70 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125 $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offre du black Friday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9" name="Google Shape;179;p34"/>
          <p:cNvSpPr txBox="1"/>
          <p:nvPr/>
        </p:nvSpPr>
        <p:spPr>
          <a:xfrm>
            <a:off x="814200" y="4162300"/>
            <a:ext cx="7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fr" sz="1800">
                <a:solidFill>
                  <a:schemeClr val="dk2"/>
                </a:solidFill>
              </a:rPr>
              <a:t>frais de plateforme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Custom">
      <a:dk1>
        <a:srgbClr val="000000"/>
      </a:dk1>
      <a:lt1>
        <a:srgbClr val="FFFFFF"/>
      </a:lt1>
      <a:dk2>
        <a:srgbClr val="595959"/>
      </a:dk2>
      <a:lt2>
        <a:srgbClr val="FFFFFF"/>
      </a:lt2>
      <a:accent1>
        <a:srgbClr val="354463"/>
      </a:accent1>
      <a:accent2>
        <a:srgbClr val="D8A49A"/>
      </a:accent2>
      <a:accent3>
        <a:srgbClr val="8C8C8C"/>
      </a:accent3>
      <a:accent4>
        <a:srgbClr val="FFFFFF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