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9DC1D-6634-465D-83D5-78DEDB5B2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FC82FD-3CA7-4B6A-8994-34AA62A27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312C0A-F46D-4210-9CC5-06FDCEE0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81D8E0-9AAB-4DF8-AF29-2D79919C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5FFF31-4C74-401C-BC1D-C0A47717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859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A9AAA-1165-49A8-A39F-CA335BC1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82325-6F92-4EF3-B410-6FBF9445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14D00E-BCB3-4F56-92E6-F2497F21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3C6C6B-E26A-445E-81A5-08BA185C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177123-3772-486A-B9B1-A13CFBCD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346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D2D77-1BB7-4ED4-A2D0-78BD6F8F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00CE55-407A-457C-9017-47E5448B4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31163D-E629-4F0E-BB62-950C7819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CC3FE5-4497-48A6-B249-E20905B0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0328C5-8DCC-45D1-ABB6-958D88EC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836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5B230-8BA0-4653-8F9A-D799A653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A4F6F1-D7E8-461C-A611-F51CC59E2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EAE5E4-1FC4-4F55-99FA-65BD17DB1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F6755F-5CEA-4BD9-942A-932368B0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B52E0F-77BD-4890-AEC1-7FFB7387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C68F4E-3477-4EC9-831F-EA17A54A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914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9C4D6-B7AF-42F5-BEA6-9C750763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BA6218-A980-4C41-8C88-855F6A86E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A4D9C5-2E73-47C5-AF2E-A66953E54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47CF8F-3970-4E96-97F9-CEEE4FAEF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BD8618-1260-439C-9D2B-F6DFFFEF6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3231D3-EA9C-4B6A-844F-DB0CAB69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2F9890C-502B-4DAC-92EC-E1B6749B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BE67429-E2F7-4B03-9E42-B51D90F9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628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74953-4CA1-45BB-9D85-192E55B5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0A84434-C947-4A78-B5C9-F121C046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1E747D-A6D8-400A-9A0A-5EEB0304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C86BF9-B53F-4F82-871A-334D385A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221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59512C-CA14-4E15-B294-AA7EE285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552998-D061-484F-AA2B-53E4220D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285BE-8DA7-4A80-89A1-A8718D0A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568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46C03-7B1B-442C-835E-9846F83D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51552F-46DE-4938-9081-ADBA7F35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11211D-D3BA-4267-9D86-3B35BA977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A6F6A6-AFE6-4BF0-9DA1-27D03DC5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0E8C14-176C-4E10-8AED-3452774B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37F8DB-28E6-48EC-90A7-F1233560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8067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94423-B52D-49C1-A7A8-158EFEE9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2D44D65-7844-48CB-B3A8-568C3C4C5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4C343A-45AE-42B9-AAED-94579D0A2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A70ABF-74C0-4F80-B841-C6870282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C5FDCB-AA3A-4473-9855-4E99A68A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09CFE1-6FF2-4E24-AE70-8A7F8734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4391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285CE-0618-43EC-A8A7-BF3DC4A8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77FC89-EBB8-411C-B6F4-C132366C2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3FA7DC-796E-4015-95E6-ED2E48C5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91C5E5-2389-4E8F-A73F-7FB5F499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B45C4E-8FC8-4568-BE11-ABE07C04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691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55D201C-CAEB-4322-AF53-1BED1A6FA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A5D967-A155-4BB4-B5E6-B5124EB29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A9FD31-FE64-4551-9FE2-00BF4A84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E0324F-567A-4F91-B9B3-6BCBCCA6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60023A-F2B2-4FD7-AA17-36BAC5A7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440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E73312-3696-45E5-9984-08EC3A3BF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63357A-062A-429B-AFF1-3A1144C11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B9D4BA-62EB-445A-8F38-40AEFB1E7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540FF-05A4-4C60-9AF6-9B902D114A0A}" type="datetimeFigureOut">
              <a:rPr lang="fr-CA" smtClean="0"/>
              <a:t>05/10/2021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A52E91-05BE-44B9-89C1-3403DA9BF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4D7D20-AE78-4864-94FA-BB6E45942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DFD86-3693-4CDF-BE13-41F83C94633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307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A17DD19-6B8C-41BA-B184-371A9D24A32F}"/>
              </a:ext>
            </a:extLst>
          </p:cNvPr>
          <p:cNvGrpSpPr/>
          <p:nvPr/>
        </p:nvGrpSpPr>
        <p:grpSpPr>
          <a:xfrm>
            <a:off x="3768310" y="1931182"/>
            <a:ext cx="5056907" cy="2607262"/>
            <a:chOff x="4640766" y="3667703"/>
            <a:chExt cx="2910468" cy="127938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C59CA19-05BB-4A1F-AA0F-50CE6D643F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5232002" y="3804089"/>
              <a:ext cx="2052239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5EB3A6-02BC-48B9-88DC-649BA33B22B6}"/>
                </a:ext>
              </a:extLst>
            </p:cNvPr>
            <p:cNvSpPr/>
            <p:nvPr/>
          </p:nvSpPr>
          <p:spPr>
            <a:xfrm>
              <a:off x="4640766" y="3689191"/>
              <a:ext cx="2910468" cy="12376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8C933C7-8861-4043-9849-11F38BA7C3BF}"/>
                </a:ext>
              </a:extLst>
            </p:cNvPr>
            <p:cNvSpPr txBox="1"/>
            <p:nvPr/>
          </p:nvSpPr>
          <p:spPr>
            <a:xfrm>
              <a:off x="6966103" y="3667703"/>
              <a:ext cx="48446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40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4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A6FB8-3C83-4738-86DA-453FE670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Structure légale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515BB6-8B2D-4350-ADE7-1922EC8EB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66"/>
          <a:stretch/>
        </p:blipFill>
        <p:spPr bwMode="auto">
          <a:xfrm>
            <a:off x="2007218" y="1466273"/>
            <a:ext cx="2052239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-large">
            <a:extLst>
              <a:ext uri="{FF2B5EF4-FFF2-40B4-BE49-F238E27FC236}">
                <a16:creationId xmlns:a16="http://schemas.microsoft.com/office/drawing/2014/main" id="{65962B37-983B-4876-B220-692D2B15F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335" y="1576275"/>
            <a:ext cx="2884322" cy="7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D3D2FD-8346-4C0A-BE2A-50BCF4D833F0}"/>
              </a:ext>
            </a:extLst>
          </p:cNvPr>
          <p:cNvSpPr/>
          <p:nvPr/>
        </p:nvSpPr>
        <p:spPr>
          <a:xfrm>
            <a:off x="1572322" y="1371600"/>
            <a:ext cx="2910468" cy="12376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311FA-C9B5-484A-9AA3-18BB5F2D94E8}"/>
              </a:ext>
            </a:extLst>
          </p:cNvPr>
          <p:cNvSpPr/>
          <p:nvPr/>
        </p:nvSpPr>
        <p:spPr>
          <a:xfrm>
            <a:off x="6858000" y="1312300"/>
            <a:ext cx="3437326" cy="12376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A739C5A-BCC8-40E7-A9AF-DBD64E81907A}"/>
              </a:ext>
            </a:extLst>
          </p:cNvPr>
          <p:cNvGrpSpPr/>
          <p:nvPr/>
        </p:nvGrpSpPr>
        <p:grpSpPr>
          <a:xfrm>
            <a:off x="4640766" y="3667703"/>
            <a:ext cx="2910468" cy="1279386"/>
            <a:chOff x="4640766" y="3667703"/>
            <a:chExt cx="2910468" cy="127938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C6D0F53-BB69-4779-AC30-A5BE6A389B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5232002" y="3804089"/>
              <a:ext cx="2052239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C7886C-2F3F-413C-A195-8CF34D1B653C}"/>
                </a:ext>
              </a:extLst>
            </p:cNvPr>
            <p:cNvSpPr/>
            <p:nvPr/>
          </p:nvSpPr>
          <p:spPr>
            <a:xfrm>
              <a:off x="4640766" y="3689191"/>
              <a:ext cx="2910468" cy="12376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41E8125-F679-4B7C-9BA3-5BB8160D0326}"/>
                </a:ext>
              </a:extLst>
            </p:cNvPr>
            <p:cNvSpPr txBox="1"/>
            <p:nvPr/>
          </p:nvSpPr>
          <p:spPr>
            <a:xfrm>
              <a:off x="6966103" y="3667703"/>
              <a:ext cx="48446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40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40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C09FCAA-DBFE-4299-82F7-94AA53FD0121}"/>
              </a:ext>
            </a:extLst>
          </p:cNvPr>
          <p:cNvCxnSpPr/>
          <p:nvPr/>
        </p:nvCxnSpPr>
        <p:spPr>
          <a:xfrm flipH="1">
            <a:off x="6669248" y="2609273"/>
            <a:ext cx="1417739" cy="1058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30021BD-CEF8-40BB-AF07-5828809DC1E9}"/>
              </a:ext>
            </a:extLst>
          </p:cNvPr>
          <p:cNvCxnSpPr>
            <a:cxnSpLocks/>
          </p:cNvCxnSpPr>
          <p:nvPr/>
        </p:nvCxnSpPr>
        <p:spPr>
          <a:xfrm>
            <a:off x="3335871" y="2639468"/>
            <a:ext cx="1890027" cy="1028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3E6191E5-294F-4F69-A405-EBBF1D404070}"/>
              </a:ext>
            </a:extLst>
          </p:cNvPr>
          <p:cNvSpPr txBox="1"/>
          <p:nvPr/>
        </p:nvSpPr>
        <p:spPr>
          <a:xfrm>
            <a:off x="4347151" y="2792924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51%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4A3A286-9C6E-4086-A26B-301A24EE7DCF}"/>
              </a:ext>
            </a:extLst>
          </p:cNvPr>
          <p:cNvSpPr txBox="1"/>
          <p:nvPr/>
        </p:nvSpPr>
        <p:spPr>
          <a:xfrm>
            <a:off x="6723578" y="2784253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49%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9A3AA38-83D0-4D29-80E4-344614CAF925}"/>
              </a:ext>
            </a:extLst>
          </p:cNvPr>
          <p:cNvGrpSpPr/>
          <p:nvPr/>
        </p:nvGrpSpPr>
        <p:grpSpPr>
          <a:xfrm>
            <a:off x="1506102" y="5767957"/>
            <a:ext cx="1149417" cy="879507"/>
            <a:chOff x="1506102" y="5767957"/>
            <a:chExt cx="1149417" cy="879507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54004D67-4755-46BB-AF03-8CBF2003D4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1725914" y="5961862"/>
              <a:ext cx="717912" cy="39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F6FC05-7142-4292-A31E-E001C1A03FB9}"/>
                </a:ext>
              </a:extLst>
            </p:cNvPr>
            <p:cNvSpPr/>
            <p:nvPr/>
          </p:nvSpPr>
          <p:spPr>
            <a:xfrm>
              <a:off x="1561034" y="5913352"/>
              <a:ext cx="1039554" cy="432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53D43A3C-7273-4C08-A693-380786C02698}"/>
                </a:ext>
              </a:extLst>
            </p:cNvPr>
            <p:cNvSpPr txBox="1"/>
            <p:nvPr/>
          </p:nvSpPr>
          <p:spPr>
            <a:xfrm>
              <a:off x="2248250" y="5767957"/>
              <a:ext cx="1955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28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DA228CF6-CCEB-4095-A470-DD6CAD125D80}"/>
                </a:ext>
              </a:extLst>
            </p:cNvPr>
            <p:cNvSpPr txBox="1"/>
            <p:nvPr/>
          </p:nvSpPr>
          <p:spPr>
            <a:xfrm>
              <a:off x="1506102" y="6339687"/>
              <a:ext cx="1149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Succursale 1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FD40941-C498-4F92-BB98-5976549D0199}"/>
              </a:ext>
            </a:extLst>
          </p:cNvPr>
          <p:cNvGrpSpPr/>
          <p:nvPr/>
        </p:nvGrpSpPr>
        <p:grpSpPr>
          <a:xfrm>
            <a:off x="3177855" y="5767957"/>
            <a:ext cx="1149417" cy="879507"/>
            <a:chOff x="1506102" y="5767957"/>
            <a:chExt cx="1149417" cy="879507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94907240-71C8-486D-A3C3-29398EADDC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1725914" y="5961862"/>
              <a:ext cx="717912" cy="39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4F34B71-C848-40EE-ACF7-BF2FFDBDD652}"/>
                </a:ext>
              </a:extLst>
            </p:cNvPr>
            <p:cNvSpPr/>
            <p:nvPr/>
          </p:nvSpPr>
          <p:spPr>
            <a:xfrm>
              <a:off x="1561034" y="5913352"/>
              <a:ext cx="1039554" cy="432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5FAB7A25-12A0-4B83-800E-61F0300EE2A1}"/>
                </a:ext>
              </a:extLst>
            </p:cNvPr>
            <p:cNvSpPr txBox="1"/>
            <p:nvPr/>
          </p:nvSpPr>
          <p:spPr>
            <a:xfrm>
              <a:off x="2248250" y="5767957"/>
              <a:ext cx="1955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28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DDB874FA-72DF-4E4B-90EB-6F7B925134A5}"/>
                </a:ext>
              </a:extLst>
            </p:cNvPr>
            <p:cNvSpPr txBox="1"/>
            <p:nvPr/>
          </p:nvSpPr>
          <p:spPr>
            <a:xfrm>
              <a:off x="1506102" y="6339687"/>
              <a:ext cx="1149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Succursale 2</a:t>
              </a: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E7CF2F6A-AE74-4D34-A625-88E02F5D28C5}"/>
              </a:ext>
            </a:extLst>
          </p:cNvPr>
          <p:cNvGrpSpPr/>
          <p:nvPr/>
        </p:nvGrpSpPr>
        <p:grpSpPr>
          <a:xfrm>
            <a:off x="4904540" y="5767957"/>
            <a:ext cx="1149417" cy="879507"/>
            <a:chOff x="1506102" y="5767957"/>
            <a:chExt cx="1149417" cy="879507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5F512DE7-5253-4B65-A337-C45F9EBCCE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1725914" y="5961862"/>
              <a:ext cx="717912" cy="39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C9E423C-E0F0-49AE-9904-BD6EB2D2442F}"/>
                </a:ext>
              </a:extLst>
            </p:cNvPr>
            <p:cNvSpPr/>
            <p:nvPr/>
          </p:nvSpPr>
          <p:spPr>
            <a:xfrm>
              <a:off x="1561034" y="5913352"/>
              <a:ext cx="1039554" cy="432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C4D4F1DB-76AE-415B-80FD-3D4A658E5935}"/>
                </a:ext>
              </a:extLst>
            </p:cNvPr>
            <p:cNvSpPr txBox="1"/>
            <p:nvPr/>
          </p:nvSpPr>
          <p:spPr>
            <a:xfrm>
              <a:off x="2248250" y="5767957"/>
              <a:ext cx="1955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28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2258BC87-E7A1-4C62-B4E5-12696701E152}"/>
                </a:ext>
              </a:extLst>
            </p:cNvPr>
            <p:cNvSpPr txBox="1"/>
            <p:nvPr/>
          </p:nvSpPr>
          <p:spPr>
            <a:xfrm>
              <a:off x="1506102" y="6339687"/>
              <a:ext cx="1149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Succursale 3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3CD182C7-9C6A-47C3-88B6-EA938844224D}"/>
              </a:ext>
            </a:extLst>
          </p:cNvPr>
          <p:cNvGrpSpPr/>
          <p:nvPr/>
        </p:nvGrpSpPr>
        <p:grpSpPr>
          <a:xfrm>
            <a:off x="6521362" y="5763472"/>
            <a:ext cx="1149417" cy="879507"/>
            <a:chOff x="1506102" y="5767957"/>
            <a:chExt cx="1149417" cy="879507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03CE4DFB-52C0-4C46-98E7-158C21A09C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1725914" y="5961862"/>
              <a:ext cx="717912" cy="39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7758CEF-6A98-4F96-87D9-92E28DA05443}"/>
                </a:ext>
              </a:extLst>
            </p:cNvPr>
            <p:cNvSpPr/>
            <p:nvPr/>
          </p:nvSpPr>
          <p:spPr>
            <a:xfrm>
              <a:off x="1561034" y="5913352"/>
              <a:ext cx="1039554" cy="432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DD3871A-0803-46D7-9781-08CCE3628A4D}"/>
                </a:ext>
              </a:extLst>
            </p:cNvPr>
            <p:cNvSpPr txBox="1"/>
            <p:nvPr/>
          </p:nvSpPr>
          <p:spPr>
            <a:xfrm>
              <a:off x="2248250" y="5767957"/>
              <a:ext cx="1955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28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F0EEBC5-3FDD-42CB-B436-1856EC19E90D}"/>
                </a:ext>
              </a:extLst>
            </p:cNvPr>
            <p:cNvSpPr txBox="1"/>
            <p:nvPr/>
          </p:nvSpPr>
          <p:spPr>
            <a:xfrm>
              <a:off x="1506102" y="6339687"/>
              <a:ext cx="1149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Succursale 4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8328083-9AAA-4D67-9515-6977FE31C995}"/>
              </a:ext>
            </a:extLst>
          </p:cNvPr>
          <p:cNvGrpSpPr/>
          <p:nvPr/>
        </p:nvGrpSpPr>
        <p:grpSpPr>
          <a:xfrm>
            <a:off x="8220787" y="5746588"/>
            <a:ext cx="1149417" cy="879507"/>
            <a:chOff x="1506102" y="5767957"/>
            <a:chExt cx="1149417" cy="879507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6059A938-8208-443D-9C20-7AB5B53083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6"/>
            <a:stretch/>
          </p:blipFill>
          <p:spPr bwMode="auto">
            <a:xfrm>
              <a:off x="1725914" y="5961862"/>
              <a:ext cx="717912" cy="399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791A7A2-203E-4C8B-B1A0-3AA2772591CF}"/>
                </a:ext>
              </a:extLst>
            </p:cNvPr>
            <p:cNvSpPr/>
            <p:nvPr/>
          </p:nvSpPr>
          <p:spPr>
            <a:xfrm>
              <a:off x="1561034" y="5913352"/>
              <a:ext cx="1039554" cy="432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1D0B57AF-1C89-4428-988E-A529CFD5D962}"/>
                </a:ext>
              </a:extLst>
            </p:cNvPr>
            <p:cNvSpPr txBox="1"/>
            <p:nvPr/>
          </p:nvSpPr>
          <p:spPr>
            <a:xfrm>
              <a:off x="2248250" y="5767957"/>
              <a:ext cx="1955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sz="28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fr-CA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0918941F-8DBD-4915-B608-3A5650F06AAF}"/>
                </a:ext>
              </a:extLst>
            </p:cNvPr>
            <p:cNvSpPr txBox="1"/>
            <p:nvPr/>
          </p:nvSpPr>
          <p:spPr>
            <a:xfrm>
              <a:off x="1506102" y="6339687"/>
              <a:ext cx="1149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dirty="0"/>
                <a:t>Succursale …</a:t>
              </a:r>
            </a:p>
          </p:txBody>
        </p:sp>
      </p:grp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B3C9B43A-F32A-4962-A404-3E9986B11F20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2346038" y="4947091"/>
            <a:ext cx="3288694" cy="820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F2D74E5-36A9-41F9-8032-89565B0390AB}"/>
              </a:ext>
            </a:extLst>
          </p:cNvPr>
          <p:cNvCxnSpPr>
            <a:cxnSpLocks/>
          </p:cNvCxnSpPr>
          <p:nvPr/>
        </p:nvCxnSpPr>
        <p:spPr>
          <a:xfrm flipV="1">
            <a:off x="3835457" y="4974232"/>
            <a:ext cx="2254985" cy="813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313D5D86-9F91-4BE5-9A5A-570438EFFBC6}"/>
              </a:ext>
            </a:extLst>
          </p:cNvPr>
          <p:cNvCxnSpPr>
            <a:cxnSpLocks/>
          </p:cNvCxnSpPr>
          <p:nvPr/>
        </p:nvCxnSpPr>
        <p:spPr>
          <a:xfrm flipV="1">
            <a:off x="5547127" y="4976687"/>
            <a:ext cx="630921" cy="863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A9F0824-15E0-4C75-9959-91F7B8BD22AB}"/>
              </a:ext>
            </a:extLst>
          </p:cNvPr>
          <p:cNvCxnSpPr>
            <a:cxnSpLocks/>
          </p:cNvCxnSpPr>
          <p:nvPr/>
        </p:nvCxnSpPr>
        <p:spPr>
          <a:xfrm flipH="1" flipV="1">
            <a:off x="6389115" y="4986144"/>
            <a:ext cx="576988" cy="834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D7032095-992C-4073-87BA-CF33F280193F}"/>
              </a:ext>
            </a:extLst>
          </p:cNvPr>
          <p:cNvCxnSpPr>
            <a:cxnSpLocks/>
          </p:cNvCxnSpPr>
          <p:nvPr/>
        </p:nvCxnSpPr>
        <p:spPr>
          <a:xfrm flipH="1" flipV="1">
            <a:off x="6612778" y="4995599"/>
            <a:ext cx="2037719" cy="750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4D224E73-65E3-438E-99AD-C82AD615E4CA}"/>
              </a:ext>
            </a:extLst>
          </p:cNvPr>
          <p:cNvSpPr txBox="1"/>
          <p:nvPr/>
        </p:nvSpPr>
        <p:spPr>
          <a:xfrm>
            <a:off x="5190211" y="5221685"/>
            <a:ext cx="1617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 dirty="0"/>
              <a:t>Redevances 7%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D2573B6B-6C97-499F-AD9F-0D00006325BD}"/>
              </a:ext>
            </a:extLst>
          </p:cNvPr>
          <p:cNvSpPr txBox="1"/>
          <p:nvPr/>
        </p:nvSpPr>
        <p:spPr>
          <a:xfrm>
            <a:off x="8086987" y="2968919"/>
            <a:ext cx="34373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/>
              <a:t>Responsabilités cadres:</a:t>
            </a:r>
          </a:p>
          <a:p>
            <a:r>
              <a:rPr lang="fr-CA" sz="1200" dirty="0"/>
              <a:t>Implantation, formation et encadrement de:</a:t>
            </a:r>
          </a:p>
          <a:p>
            <a:r>
              <a:rPr lang="fr-CA" sz="1200" dirty="0"/>
              <a:t>-Comptabilité numérique standardisée</a:t>
            </a:r>
          </a:p>
          <a:p>
            <a:r>
              <a:rPr lang="fr-CA" sz="1200" dirty="0"/>
              <a:t>-Plate-forme d’interaction client</a:t>
            </a:r>
          </a:p>
          <a:p>
            <a:r>
              <a:rPr lang="fr-CA" sz="1200" dirty="0"/>
              <a:t>-PAEF</a:t>
            </a:r>
          </a:p>
          <a:p>
            <a:r>
              <a:rPr lang="fr-CA" sz="1200" dirty="0"/>
              <a:t>-Satisfaction des patients (NPS/Google </a:t>
            </a:r>
            <a:r>
              <a:rPr lang="fr-CA" sz="1200" dirty="0" err="1"/>
              <a:t>review</a:t>
            </a:r>
            <a:r>
              <a:rPr lang="fr-CA" sz="1200" dirty="0"/>
              <a:t>)</a:t>
            </a:r>
          </a:p>
          <a:p>
            <a:r>
              <a:rPr lang="fr-CA" sz="1200" dirty="0"/>
              <a:t>-Satisfaction des employés (</a:t>
            </a:r>
            <a:r>
              <a:rPr lang="fr-CA" sz="1200" dirty="0" err="1"/>
              <a:t>eNPS</a:t>
            </a:r>
            <a:r>
              <a:rPr lang="fr-CA" sz="1200" dirty="0"/>
              <a:t>)</a:t>
            </a:r>
          </a:p>
          <a:p>
            <a:r>
              <a:rPr lang="fr-CA" sz="1200" dirty="0"/>
              <a:t>-Toolkit HR: </a:t>
            </a:r>
            <a:r>
              <a:rPr lang="fr-CA" sz="1200" dirty="0" err="1"/>
              <a:t>Payroll</a:t>
            </a:r>
            <a:r>
              <a:rPr lang="fr-CA" sz="1200" dirty="0"/>
              <a:t> et gestion des dossiers employés</a:t>
            </a:r>
          </a:p>
          <a:p>
            <a:r>
              <a:rPr lang="fr-CA" sz="1200" dirty="0"/>
              <a:t>-Plate-forme « Université Viva+ pour formation: directrices, culture, SAC, etc.</a:t>
            </a:r>
          </a:p>
          <a:p>
            <a:r>
              <a:rPr lang="fr-CA" sz="1200" dirty="0"/>
              <a:t>-Package marketing en ligne (bronze-</a:t>
            </a:r>
            <a:r>
              <a:rPr lang="fr-CA" sz="1200" dirty="0" err="1"/>
              <a:t>silver</a:t>
            </a:r>
            <a:r>
              <a:rPr lang="fr-CA" sz="1200" dirty="0"/>
              <a:t>-gold</a:t>
            </a:r>
          </a:p>
          <a:p>
            <a:r>
              <a:rPr lang="fr-CA" sz="1200" dirty="0"/>
              <a:t>-Légal contrats des franchisés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7176BCE1-33E8-4511-954B-56BCBB550235}"/>
              </a:ext>
            </a:extLst>
          </p:cNvPr>
          <p:cNvSpPr txBox="1"/>
          <p:nvPr/>
        </p:nvSpPr>
        <p:spPr>
          <a:xfrm>
            <a:off x="1018497" y="3153585"/>
            <a:ext cx="3437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dirty="0"/>
              <a:t>Responsabilités cadres:</a:t>
            </a:r>
          </a:p>
          <a:p>
            <a:r>
              <a:rPr lang="fr-CA" sz="1200" dirty="0"/>
              <a:t>-Identification des sites cibles pour établir les cliniques franchises</a:t>
            </a:r>
          </a:p>
          <a:p>
            <a:r>
              <a:rPr lang="fr-CA" sz="1200" dirty="0"/>
              <a:t>-Construction des immeubles et améliorations locatives</a:t>
            </a:r>
          </a:p>
          <a:p>
            <a:r>
              <a:rPr lang="fr-CA" sz="1200" dirty="0"/>
              <a:t>-Identification des partenaires dentistes potentiels</a:t>
            </a:r>
          </a:p>
          <a:p>
            <a:r>
              <a:rPr lang="fr-CA" sz="1200" dirty="0"/>
              <a:t>-</a:t>
            </a:r>
            <a:r>
              <a:rPr lang="fr-CA" sz="1200" dirty="0" err="1"/>
              <a:t>Playbook</a:t>
            </a:r>
            <a:r>
              <a:rPr lang="fr-CA" sz="1200" dirty="0"/>
              <a:t> des best practices opérationnelles pour l’attraction de nouveaux patients, etc.</a:t>
            </a:r>
          </a:p>
          <a:p>
            <a:r>
              <a:rPr lang="fr-CA" sz="1200" dirty="0"/>
              <a:t>-Financement</a:t>
            </a:r>
          </a:p>
        </p:txBody>
      </p:sp>
    </p:spTree>
    <p:extLst>
      <p:ext uri="{BB962C8B-B14F-4D97-AF65-F5344CB8AC3E}">
        <p14:creationId xmlns:p14="http://schemas.microsoft.com/office/powerpoint/2010/main" val="301293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73C3A-F1F7-40E4-A66C-74C0EF60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7A324-B63B-4BD4-A827-DCC0F1989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35028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144</Words>
  <Application>Microsoft Office PowerPoint</Application>
  <PresentationFormat>Grand écran</PresentationFormat>
  <Paragraphs>33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Structure légale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Viva+</dc:title>
  <dc:creator>Mathieu Doyon</dc:creator>
  <cp:lastModifiedBy>Mathieu Doyon</cp:lastModifiedBy>
  <cp:revision>5</cp:revision>
  <dcterms:created xsi:type="dcterms:W3CDTF">2021-10-05T14:57:02Z</dcterms:created>
  <dcterms:modified xsi:type="dcterms:W3CDTF">2021-10-06T15:21:28Z</dcterms:modified>
</cp:coreProperties>
</file>