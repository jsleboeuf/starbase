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94" r:id="rId6"/>
    <p:sldId id="306" r:id="rId7"/>
    <p:sldId id="307" r:id="rId8"/>
    <p:sldId id="300" r:id="rId9"/>
    <p:sldId id="275" r:id="rId10"/>
    <p:sldId id="302" r:id="rId11"/>
    <p:sldId id="278" r:id="rId12"/>
    <p:sldId id="281" r:id="rId13"/>
    <p:sldId id="283" r:id="rId14"/>
    <p:sldId id="298" r:id="rId15"/>
    <p:sldId id="280" r:id="rId16"/>
    <p:sldId id="299" r:id="rId17"/>
    <p:sldId id="289" r:id="rId18"/>
    <p:sldId id="296" r:id="rId19"/>
    <p:sldId id="268" r:id="rId20"/>
    <p:sldId id="295" r:id="rId21"/>
    <p:sldId id="291" r:id="rId22"/>
    <p:sldId id="29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660"/>
  </p:normalViewPr>
  <p:slideViewPr>
    <p:cSldViewPr snapToGrid="0">
      <p:cViewPr varScale="1">
        <p:scale>
          <a:sx n="70" d="100"/>
          <a:sy n="70" d="100"/>
        </p:scale>
        <p:origin x="1061"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DBC80F-6019-481D-ADCF-B4D0CABFFDAB}" type="datetimeFigureOut">
              <a:rPr lang="en-US" smtClean="0"/>
              <a:t>8/14/2023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D9BBBC-6B92-4661-880A-C91151115C28}" type="slidenum">
              <a:rPr lang="en-US" smtClean="0"/>
              <a:t>‹#›</a:t>
            </a:fld>
            <a:endParaRPr lang="en-US"/>
          </a:p>
        </p:txBody>
      </p:sp>
    </p:spTree>
    <p:extLst>
      <p:ext uri="{BB962C8B-B14F-4D97-AF65-F5344CB8AC3E}">
        <p14:creationId xmlns:p14="http://schemas.microsoft.com/office/powerpoint/2010/main" val="1987761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Note to Presenter:  Include and review the</a:t>
            </a:r>
            <a:r>
              <a:rPr lang="en-US" baseline="0" dirty="0"/>
              <a:t> values of your company.  </a:t>
            </a:r>
            <a:endParaRPr lang="en-US" dirty="0"/>
          </a:p>
        </p:txBody>
      </p:sp>
      <p:sp>
        <p:nvSpPr>
          <p:cNvPr id="3277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1BAA7993-25D7-FB48-BA86-4F500D1E5D9B}" type="slidenum">
              <a:rPr lang="en-US"/>
              <a:pPr/>
              <a:t>9</a:t>
            </a:fld>
            <a:endParaRPr lang="en-US" dirty="0"/>
          </a:p>
        </p:txBody>
      </p:sp>
    </p:spTree>
    <p:extLst>
      <p:ext uri="{BB962C8B-B14F-4D97-AF65-F5344CB8AC3E}">
        <p14:creationId xmlns:p14="http://schemas.microsoft.com/office/powerpoint/2010/main" val="3873561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Note to Presenter: You may want to invite and introduce your benefits manager to speak at this point.  Be sure to customize the typical information on this slide. Those listed are federal and state statutory benefits.</a:t>
            </a:r>
            <a:r>
              <a:rPr lang="en-US" baseline="0" dirty="0"/>
              <a:t> </a:t>
            </a:r>
            <a:r>
              <a:rPr lang="en-US" dirty="0"/>
              <a:t> Be sure to include any</a:t>
            </a:r>
            <a:r>
              <a:rPr lang="en-US" baseline="0" dirty="0"/>
              <a:t> other</a:t>
            </a:r>
            <a:r>
              <a:rPr lang="en-US" dirty="0"/>
              <a:t> statutory benefits for your state. </a:t>
            </a:r>
          </a:p>
        </p:txBody>
      </p:sp>
      <p:sp>
        <p:nvSpPr>
          <p:cNvPr id="3891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8ABB0204-9500-8342-9242-BAC924227772}" type="slidenum">
              <a:rPr lang="en-US"/>
              <a:pPr/>
              <a:t>11</a:t>
            </a:fld>
            <a:endParaRPr lang="en-US" dirty="0"/>
          </a:p>
        </p:txBody>
      </p:sp>
    </p:spTree>
    <p:extLst>
      <p:ext uri="{BB962C8B-B14F-4D97-AF65-F5344CB8AC3E}">
        <p14:creationId xmlns:p14="http://schemas.microsoft.com/office/powerpoint/2010/main" val="2790109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Note to Presenter:  Be sure to customize the typical information on this slide. </a:t>
            </a:r>
          </a:p>
        </p:txBody>
      </p:sp>
      <p:sp>
        <p:nvSpPr>
          <p:cNvPr id="4506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83DC889A-148B-4D42-9955-A0590DD0E5F4}" type="slidenum">
              <a:rPr lang="en-US"/>
              <a:pPr/>
              <a:t>12</a:t>
            </a:fld>
            <a:endParaRPr lang="en-US" dirty="0"/>
          </a:p>
        </p:txBody>
      </p:sp>
    </p:spTree>
    <p:extLst>
      <p:ext uri="{BB962C8B-B14F-4D97-AF65-F5344CB8AC3E}">
        <p14:creationId xmlns:p14="http://schemas.microsoft.com/office/powerpoint/2010/main" val="4030008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Note to Presenter:  Be sure to customize the typical information on this slide. </a:t>
            </a:r>
          </a:p>
        </p:txBody>
      </p:sp>
      <p:sp>
        <p:nvSpPr>
          <p:cNvPr id="4915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99565616-8664-A94B-AE85-8CD09E0E6A36}" type="slidenum">
              <a:rPr lang="en-US"/>
              <a:pPr/>
              <a:t>13</a:t>
            </a:fld>
            <a:endParaRPr lang="en-US" dirty="0"/>
          </a:p>
        </p:txBody>
      </p:sp>
    </p:spTree>
    <p:extLst>
      <p:ext uri="{BB962C8B-B14F-4D97-AF65-F5344CB8AC3E}">
        <p14:creationId xmlns:p14="http://schemas.microsoft.com/office/powerpoint/2010/main" val="2842984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Note to Presenter:  You may</a:t>
            </a:r>
            <a:r>
              <a:rPr lang="en-US" baseline="0" dirty="0"/>
              <a:t> want to invite and introduce your payroll manager to speak at this point. Be sure to customize the typical information on this slide. </a:t>
            </a:r>
            <a:endParaRPr lang="en-US" dirty="0"/>
          </a:p>
        </p:txBody>
      </p:sp>
      <p:sp>
        <p:nvSpPr>
          <p:cNvPr id="4301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28E99636-ED93-BF4B-B2F7-898DFBF57177}" type="slidenum">
              <a:rPr lang="en-US"/>
              <a:pPr/>
              <a:t>15</a:t>
            </a:fld>
            <a:endParaRPr lang="en-US" dirty="0"/>
          </a:p>
        </p:txBody>
      </p:sp>
    </p:spTree>
    <p:extLst>
      <p:ext uri="{BB962C8B-B14F-4D97-AF65-F5344CB8AC3E}">
        <p14:creationId xmlns:p14="http://schemas.microsoft.com/office/powerpoint/2010/main" val="2242399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Note to Presenter:  You may want to invite and introduce your IT manager to speak at this point.  Include</a:t>
            </a:r>
            <a:r>
              <a:rPr lang="en-US" baseline="0" dirty="0"/>
              <a:t> on this slide important IT policies. </a:t>
            </a:r>
            <a:endParaRPr lang="en-US" dirty="0"/>
          </a:p>
        </p:txBody>
      </p:sp>
      <p:sp>
        <p:nvSpPr>
          <p:cNvPr id="61444"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4B051B76-010C-7447-A4E5-1A212FF07155}" type="slidenum">
              <a:rPr lang="en-US"/>
              <a:pPr/>
              <a:t>17</a:t>
            </a:fld>
            <a:endParaRPr lang="en-US" dirty="0"/>
          </a:p>
        </p:txBody>
      </p:sp>
    </p:spTree>
    <p:extLst>
      <p:ext uri="{BB962C8B-B14F-4D97-AF65-F5344CB8AC3E}">
        <p14:creationId xmlns:p14="http://schemas.microsoft.com/office/powerpoint/2010/main" val="91466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Note to Presenter:  Customize</a:t>
            </a:r>
            <a:r>
              <a:rPr lang="en-US" baseline="0" dirty="0"/>
              <a:t> this list of standard new-hire forms.  If you use a web-based self-service new-hire module, you would direct the new employees to the intranet site. </a:t>
            </a:r>
            <a:endParaRPr lang="en-US" dirty="0"/>
          </a:p>
        </p:txBody>
      </p:sp>
      <p:sp>
        <p:nvSpPr>
          <p:cNvPr id="1843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88C32995-BCD1-DD41-A0C4-FFE5D40271FA}" type="slidenum">
              <a:rPr lang="en-US"/>
              <a:pPr/>
              <a:t>19</a:t>
            </a:fld>
            <a:endParaRPr lang="en-US" dirty="0"/>
          </a:p>
        </p:txBody>
      </p:sp>
    </p:spTree>
    <p:extLst>
      <p:ext uri="{BB962C8B-B14F-4D97-AF65-F5344CB8AC3E}">
        <p14:creationId xmlns:p14="http://schemas.microsoft.com/office/powerpoint/2010/main" val="3695203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p>
        </p:txBody>
      </p:sp>
      <p:sp>
        <p:nvSpPr>
          <p:cNvPr id="6554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CC2AF01A-BD8C-8246-ACCC-1E8428FEC85C}" type="slidenum">
              <a:rPr lang="en-US"/>
              <a:pPr/>
              <a:t>21</a:t>
            </a:fld>
            <a:endParaRPr lang="en-US" dirty="0"/>
          </a:p>
        </p:txBody>
      </p:sp>
    </p:spTree>
    <p:extLst>
      <p:ext uri="{BB962C8B-B14F-4D97-AF65-F5344CB8AC3E}">
        <p14:creationId xmlns:p14="http://schemas.microsoft.com/office/powerpoint/2010/main" val="796137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9359-0E9C-84E6-AC45-93A8F64C98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CD9D65-2C57-8053-B6F6-134D2EE5FC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5D63B4-7ABA-7138-F913-1A49DF5424CD}"/>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5" name="Footer Placeholder 4">
            <a:extLst>
              <a:ext uri="{FF2B5EF4-FFF2-40B4-BE49-F238E27FC236}">
                <a16:creationId xmlns:a16="http://schemas.microsoft.com/office/drawing/2014/main" id="{2363BD58-4AF1-DA47-3D48-2B1A7ACE0A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12AFD4-EBFF-A788-E198-C9199361F307}"/>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606116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0E7A4-A2F2-A85F-031D-DD5341C713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B0295F-F432-494C-E17B-661B3ADAD2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9218ED-A0DC-1AED-89C7-30621BE340C0}"/>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5" name="Footer Placeholder 4">
            <a:extLst>
              <a:ext uri="{FF2B5EF4-FFF2-40B4-BE49-F238E27FC236}">
                <a16:creationId xmlns:a16="http://schemas.microsoft.com/office/drawing/2014/main" id="{87F9B403-3C05-56AD-8043-38BB2DACEA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34E19E-F4A9-2F70-B4D5-F62847274607}"/>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3955645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CB70-06D6-C04F-322B-4150AA86DF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A2B073-6229-B8FD-E0A9-4B7F2D3C07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378A11-D635-7F15-E4E8-D9DCD95D0056}"/>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5" name="Footer Placeholder 4">
            <a:extLst>
              <a:ext uri="{FF2B5EF4-FFF2-40B4-BE49-F238E27FC236}">
                <a16:creationId xmlns:a16="http://schemas.microsoft.com/office/drawing/2014/main" id="{579030DF-98AC-E69C-69B6-21E1F0CDA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7CB4D9-17AE-68A2-916D-D9A5F1428CB9}"/>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2145857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C2A5-4CEC-6BAA-DC77-93EF680C79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60AC0-F84C-2F6F-C8D5-89912B8D98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3E3D1D-8B72-93E0-C37E-B0FA63370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E3DC66-7426-66FC-686E-680A53B9745D}"/>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6" name="Footer Placeholder 5">
            <a:extLst>
              <a:ext uri="{FF2B5EF4-FFF2-40B4-BE49-F238E27FC236}">
                <a16:creationId xmlns:a16="http://schemas.microsoft.com/office/drawing/2014/main" id="{2726632F-ABC9-4405-1965-CD1BFB6D01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CC10AB-02D5-8FFE-B7E0-8B4731BAA853}"/>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2889430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5AEFB-B542-9FFE-49D5-76878AB6D1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1AB588-2FE8-E81D-BC50-43E9ED4697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A43171-C298-9724-C1C6-D160246A7C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E7A9D6-4769-27A2-569D-0B5AF2E472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B5BA8F-557F-D67C-33DC-1D88C1E2FC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3EBEE4-7BF4-57ED-B58A-C9E14B40734F}"/>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8" name="Footer Placeholder 7">
            <a:extLst>
              <a:ext uri="{FF2B5EF4-FFF2-40B4-BE49-F238E27FC236}">
                <a16:creationId xmlns:a16="http://schemas.microsoft.com/office/drawing/2014/main" id="{6F32916E-0A5C-CE8E-45A4-A67B31240F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8FC1BB-7281-BF6D-31AB-E3EE4B8556A5}"/>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860958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3AD0A-E765-4215-745A-954459FE30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031A25-0EDC-E52E-3F06-55B03E8347AA}"/>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4" name="Footer Placeholder 3">
            <a:extLst>
              <a:ext uri="{FF2B5EF4-FFF2-40B4-BE49-F238E27FC236}">
                <a16:creationId xmlns:a16="http://schemas.microsoft.com/office/drawing/2014/main" id="{59CE2007-7776-706C-16C2-F54440677C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596971-D62C-8584-1871-2CA4EC31DC41}"/>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410872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EB54CC-015D-08F0-9BE0-26DB5DFCA315}"/>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3" name="Footer Placeholder 2">
            <a:extLst>
              <a:ext uri="{FF2B5EF4-FFF2-40B4-BE49-F238E27FC236}">
                <a16:creationId xmlns:a16="http://schemas.microsoft.com/office/drawing/2014/main" id="{BFC60D6E-E862-B8E0-50C2-837DBF6425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0E27AD-48AA-3F17-D07A-AF8F29D4CE2E}"/>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280445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B3DC3-6B0E-93FD-CE40-5B920BAB6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0D4798-D522-8229-28B5-6323DDE725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870A0B-46A4-228A-068E-9D5A7C7A3A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84A5D4-B35B-3379-F55B-BC63D10297F9}"/>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6" name="Footer Placeholder 5">
            <a:extLst>
              <a:ext uri="{FF2B5EF4-FFF2-40B4-BE49-F238E27FC236}">
                <a16:creationId xmlns:a16="http://schemas.microsoft.com/office/drawing/2014/main" id="{82C49FFE-A2D7-3181-B7CF-8548344F5B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1BA7A7-DBDD-E74E-C751-859269500AF4}"/>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710282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FF757-CFFB-35EA-D6FD-B12C81698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CA344E-A222-746B-8F60-6183F6E73A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CF1266-B7AD-B2FF-CBF1-664272B92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FC1C93-7EA3-C175-4A60-C78E172C593A}"/>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6" name="Footer Placeholder 5">
            <a:extLst>
              <a:ext uri="{FF2B5EF4-FFF2-40B4-BE49-F238E27FC236}">
                <a16:creationId xmlns:a16="http://schemas.microsoft.com/office/drawing/2014/main" id="{57BD71B5-96C7-CBD9-AB40-A49F5A111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74F5E2-C860-4C9C-C2DA-F79F7E54D56E}"/>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32872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95E38-5598-DEBF-D8C3-FB45BFE0AB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290625-0E9A-36AE-1935-944EF20800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7798E-3352-6472-3D34-FA55C4B977EB}"/>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5" name="Footer Placeholder 4">
            <a:extLst>
              <a:ext uri="{FF2B5EF4-FFF2-40B4-BE49-F238E27FC236}">
                <a16:creationId xmlns:a16="http://schemas.microsoft.com/office/drawing/2014/main" id="{7DF6B17B-DC69-C973-3E24-F6EAEA2847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52A8BB-B770-AFA5-4904-99D7DF1808AA}"/>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4149671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11A38D-B673-4FAC-B805-AF3AD33F00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C659E5-27F9-0965-0224-C730F40A26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70346F-05C5-04A2-CE86-22FFA6C0ABC5}"/>
              </a:ext>
            </a:extLst>
          </p:cNvPr>
          <p:cNvSpPr>
            <a:spLocks noGrp="1"/>
          </p:cNvSpPr>
          <p:nvPr>
            <p:ph type="dt" sz="half" idx="10"/>
          </p:nvPr>
        </p:nvSpPr>
        <p:spPr/>
        <p:txBody>
          <a:bodyPr/>
          <a:lstStyle/>
          <a:p>
            <a:fld id="{011FE45B-FDDC-4457-B9E7-DF6E1DB05A63}" type="datetimeFigureOut">
              <a:rPr lang="en-US" smtClean="0"/>
              <a:t>8/14/2023</a:t>
            </a:fld>
            <a:endParaRPr lang="en-US"/>
          </a:p>
        </p:txBody>
      </p:sp>
      <p:sp>
        <p:nvSpPr>
          <p:cNvPr id="5" name="Footer Placeholder 4">
            <a:extLst>
              <a:ext uri="{FF2B5EF4-FFF2-40B4-BE49-F238E27FC236}">
                <a16:creationId xmlns:a16="http://schemas.microsoft.com/office/drawing/2014/main" id="{11DC36E1-0BC1-FCBC-45F2-6893F14054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669CD-C3F2-4D48-2715-310FD32D6D02}"/>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030865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119F92-425E-7EA3-733A-EA58D684BC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DFA9F7-10AB-29FC-65F7-442E606990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204052-0CAF-2833-9E8D-9374A40857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1FE45B-FDDC-4457-B9E7-DF6E1DB05A63}" type="datetimeFigureOut">
              <a:rPr lang="en-US" smtClean="0"/>
              <a:t>8/14/2023</a:t>
            </a:fld>
            <a:endParaRPr lang="en-US"/>
          </a:p>
        </p:txBody>
      </p:sp>
      <p:sp>
        <p:nvSpPr>
          <p:cNvPr id="5" name="Footer Placeholder 4">
            <a:extLst>
              <a:ext uri="{FF2B5EF4-FFF2-40B4-BE49-F238E27FC236}">
                <a16:creationId xmlns:a16="http://schemas.microsoft.com/office/drawing/2014/main" id="{1181063D-8F5B-B4B7-F22F-47B95D037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D1D386-A2E8-0C3E-CE4E-1A3DE15118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4A5D6F-B9CC-4256-9E1E-A3E6B272A7F9}" type="slidenum">
              <a:rPr lang="en-US" smtClean="0"/>
              <a:t>‹#›</a:t>
            </a:fld>
            <a:endParaRPr lang="en-US"/>
          </a:p>
        </p:txBody>
      </p:sp>
    </p:spTree>
    <p:extLst>
      <p:ext uri="{BB962C8B-B14F-4D97-AF65-F5344CB8AC3E}">
        <p14:creationId xmlns:p14="http://schemas.microsoft.com/office/powerpoint/2010/main" val="3847039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F7B6808-BBC1-23B3-D367-2B8F39230338}"/>
              </a:ext>
            </a:extLst>
          </p:cNvPr>
          <p:cNvSpPr>
            <a:spLocks noGrp="1"/>
          </p:cNvSpPr>
          <p:nvPr>
            <p:ph type="subTitle" idx="1"/>
          </p:nvPr>
        </p:nvSpPr>
        <p:spPr>
          <a:xfrm>
            <a:off x="6858000" y="4898572"/>
            <a:ext cx="5181600" cy="685800"/>
          </a:xfrm>
        </p:spPr>
        <p:txBody>
          <a:bodyPr/>
          <a:lstStyle/>
          <a:p>
            <a:r>
              <a:rPr lang="en-US" sz="3600" dirty="0"/>
              <a:t>New-Hire Orientation </a:t>
            </a:r>
          </a:p>
        </p:txBody>
      </p:sp>
      <p:pic>
        <p:nvPicPr>
          <p:cNvPr id="5" name="Picture 4">
            <a:extLst>
              <a:ext uri="{FF2B5EF4-FFF2-40B4-BE49-F238E27FC236}">
                <a16:creationId xmlns:a16="http://schemas.microsoft.com/office/drawing/2014/main" id="{8449BE28-C1AB-8998-433F-942A480212C7}"/>
              </a:ext>
            </a:extLst>
          </p:cNvPr>
          <p:cNvPicPr>
            <a:picLocks noChangeAspect="1"/>
          </p:cNvPicPr>
          <p:nvPr/>
        </p:nvPicPr>
        <p:blipFill>
          <a:blip r:embed="rId2"/>
          <a:stretch>
            <a:fillRect/>
          </a:stretch>
        </p:blipFill>
        <p:spPr>
          <a:xfrm>
            <a:off x="1556657" y="653143"/>
            <a:ext cx="9318171" cy="3690257"/>
          </a:xfrm>
          <a:prstGeom prst="rect">
            <a:avLst/>
          </a:prstGeom>
        </p:spPr>
      </p:pic>
      <p:sp>
        <p:nvSpPr>
          <p:cNvPr id="6" name="Text Placeholder 2">
            <a:extLst>
              <a:ext uri="{FF2B5EF4-FFF2-40B4-BE49-F238E27FC236}">
                <a16:creationId xmlns:a16="http://schemas.microsoft.com/office/drawing/2014/main" id="{4233A84F-5572-A642-3970-4CC731A8A0BB}"/>
              </a:ext>
            </a:extLst>
          </p:cNvPr>
          <p:cNvSpPr txBox="1">
            <a:spLocks/>
          </p:cNvSpPr>
          <p:nvPr/>
        </p:nvSpPr>
        <p:spPr>
          <a:xfrm>
            <a:off x="9339943" y="5758543"/>
            <a:ext cx="1970314" cy="359228"/>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t>August 2023</a:t>
            </a:r>
          </a:p>
        </p:txBody>
      </p:sp>
    </p:spTree>
    <p:extLst>
      <p:ext uri="{BB962C8B-B14F-4D97-AF65-F5344CB8AC3E}">
        <p14:creationId xmlns:p14="http://schemas.microsoft.com/office/powerpoint/2010/main" val="2294388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A702F-2020-D0D4-8826-DDF9F78B97AE}"/>
              </a:ext>
            </a:extLst>
          </p:cNvPr>
          <p:cNvSpPr>
            <a:spLocks noGrp="1"/>
          </p:cNvSpPr>
          <p:nvPr>
            <p:ph type="ctrTitle"/>
          </p:nvPr>
        </p:nvSpPr>
        <p:spPr>
          <a:xfrm>
            <a:off x="1524000" y="1122363"/>
            <a:ext cx="9144000" cy="1141866"/>
          </a:xfrm>
        </p:spPr>
        <p:txBody>
          <a:bodyPr/>
          <a:lstStyle/>
          <a:p>
            <a:r>
              <a:rPr lang="en-US" b="1" dirty="0"/>
              <a:t>Welcome Onboard!!</a:t>
            </a:r>
          </a:p>
        </p:txBody>
      </p:sp>
    </p:spTree>
    <p:extLst>
      <p:ext uri="{BB962C8B-B14F-4D97-AF65-F5344CB8AC3E}">
        <p14:creationId xmlns:p14="http://schemas.microsoft.com/office/powerpoint/2010/main" val="1252386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3B11BDA-CE62-D591-0F85-A46DFFB289B6}"/>
              </a:ext>
            </a:extLst>
          </p:cNvPr>
          <p:cNvSpPr>
            <a:spLocks noGrp="1"/>
          </p:cNvSpPr>
          <p:nvPr>
            <p:ph type="subTitle" idx="1"/>
          </p:nvPr>
        </p:nvSpPr>
        <p:spPr>
          <a:xfrm>
            <a:off x="3211287" y="1719943"/>
            <a:ext cx="6313714" cy="4648199"/>
          </a:xfrm>
        </p:spPr>
        <p:txBody>
          <a:bodyPr>
            <a:normAutofit fontScale="25000" lnSpcReduction="20000"/>
          </a:bodyPr>
          <a:lstStyle/>
          <a:p>
            <a:pPr marL="457200" indent="-457200" algn="l" eaLnBrk="1" hangingPunct="1">
              <a:lnSpc>
                <a:spcPct val="90000"/>
              </a:lnSpc>
              <a:buFont typeface="+mj-lt"/>
              <a:buAutoNum type="arabicPeriod"/>
            </a:pPr>
            <a:r>
              <a:rPr lang="en-US" sz="12300" dirty="0">
                <a:latin typeface="+mj-lt"/>
              </a:rPr>
              <a:t>Company history</a:t>
            </a:r>
          </a:p>
          <a:p>
            <a:pPr marL="457200" indent="-457200" algn="l" eaLnBrk="1" hangingPunct="1">
              <a:lnSpc>
                <a:spcPct val="90000"/>
              </a:lnSpc>
              <a:buFont typeface="+mj-lt"/>
              <a:buAutoNum type="arabicPeriod"/>
            </a:pPr>
            <a:r>
              <a:rPr lang="en-US" sz="12300" dirty="0">
                <a:latin typeface="+mj-lt"/>
              </a:rPr>
              <a:t>Vision statement</a:t>
            </a:r>
          </a:p>
          <a:p>
            <a:pPr marL="457200" indent="-457200" algn="l" eaLnBrk="1" hangingPunct="1">
              <a:lnSpc>
                <a:spcPct val="90000"/>
              </a:lnSpc>
              <a:buFont typeface="+mj-lt"/>
              <a:buAutoNum type="arabicPeriod"/>
            </a:pPr>
            <a:r>
              <a:rPr lang="en-US" sz="12300" dirty="0">
                <a:latin typeface="+mj-lt"/>
              </a:rPr>
              <a:t>Mission statement</a:t>
            </a:r>
          </a:p>
          <a:p>
            <a:pPr marL="457200" indent="-457200" algn="l" eaLnBrk="1" hangingPunct="1">
              <a:lnSpc>
                <a:spcPct val="90000"/>
              </a:lnSpc>
              <a:buFont typeface="+mj-lt"/>
              <a:buAutoNum type="arabicPeriod"/>
            </a:pPr>
            <a:r>
              <a:rPr lang="en-US" sz="12300" dirty="0">
                <a:latin typeface="+mj-lt"/>
              </a:rPr>
              <a:t>Organizational structure</a:t>
            </a:r>
          </a:p>
          <a:p>
            <a:pPr marL="457200" indent="-457200" algn="l" eaLnBrk="1" hangingPunct="1">
              <a:lnSpc>
                <a:spcPct val="90000"/>
              </a:lnSpc>
              <a:buFont typeface="+mj-lt"/>
              <a:buAutoNum type="arabicPeriod"/>
            </a:pPr>
            <a:r>
              <a:rPr lang="en-US" sz="12300" dirty="0">
                <a:latin typeface="+mj-lt"/>
              </a:rPr>
              <a:t>Company values</a:t>
            </a:r>
          </a:p>
          <a:p>
            <a:pPr marL="457200" indent="-457200" algn="l">
              <a:lnSpc>
                <a:spcPct val="90000"/>
              </a:lnSpc>
              <a:buFont typeface="+mj-lt"/>
              <a:buAutoNum type="arabicPeriod"/>
            </a:pPr>
            <a:r>
              <a:rPr lang="en-US" sz="12300" dirty="0">
                <a:latin typeface="+mj-lt"/>
              </a:rPr>
              <a:t>Code of ethics</a:t>
            </a:r>
          </a:p>
          <a:p>
            <a:pPr marL="457200" indent="-457200" algn="l">
              <a:lnSpc>
                <a:spcPct val="90000"/>
              </a:lnSpc>
              <a:buFont typeface="+mj-lt"/>
              <a:buAutoNum type="arabicPeriod"/>
            </a:pPr>
            <a:r>
              <a:rPr lang="en-US" sz="12300" dirty="0">
                <a:latin typeface="+mj-lt"/>
              </a:rPr>
              <a:t>Benefits </a:t>
            </a:r>
          </a:p>
          <a:p>
            <a:pPr marL="457200" indent="-457200" algn="l">
              <a:lnSpc>
                <a:spcPct val="90000"/>
              </a:lnSpc>
              <a:buFont typeface="+mj-lt"/>
              <a:buAutoNum type="arabicPeriod"/>
            </a:pPr>
            <a:r>
              <a:rPr lang="en-US" sz="12300" dirty="0">
                <a:latin typeface="+mj-lt"/>
              </a:rPr>
              <a:t>Payroll</a:t>
            </a:r>
          </a:p>
          <a:p>
            <a:pPr marL="457200" indent="-457200" algn="l">
              <a:lnSpc>
                <a:spcPct val="90000"/>
              </a:lnSpc>
              <a:buFont typeface="+mj-lt"/>
              <a:buAutoNum type="arabicPeriod"/>
            </a:pPr>
            <a:r>
              <a:rPr lang="en-US" sz="12300" dirty="0">
                <a:latin typeface="+mj-lt"/>
              </a:rPr>
              <a:t>Information technology services</a:t>
            </a:r>
          </a:p>
          <a:p>
            <a:pPr marL="457200" indent="-457200" algn="l">
              <a:lnSpc>
                <a:spcPct val="90000"/>
              </a:lnSpc>
              <a:buFont typeface="+mj-lt"/>
              <a:buAutoNum type="arabicPeriod"/>
            </a:pPr>
            <a:r>
              <a:rPr lang="en-US" sz="12300" dirty="0">
                <a:latin typeface="+mj-lt"/>
              </a:rPr>
              <a:t>New-hire paperwork</a:t>
            </a:r>
          </a:p>
          <a:p>
            <a:pPr marL="342900" indent="-342900" algn="l" eaLnBrk="1" hangingPunct="1">
              <a:lnSpc>
                <a:spcPct val="90000"/>
              </a:lnSpc>
              <a:buFont typeface="+mj-lt"/>
              <a:buAutoNum type="arabicPeriod"/>
            </a:pPr>
            <a:endParaRPr lang="en-US" dirty="0">
              <a:latin typeface="Arial" charset="0"/>
            </a:endParaRPr>
          </a:p>
          <a:p>
            <a:endParaRPr lang="en-US" dirty="0"/>
          </a:p>
        </p:txBody>
      </p:sp>
      <p:sp>
        <p:nvSpPr>
          <p:cNvPr id="4" name="Rectangle 2">
            <a:extLst>
              <a:ext uri="{FF2B5EF4-FFF2-40B4-BE49-F238E27FC236}">
                <a16:creationId xmlns:a16="http://schemas.microsoft.com/office/drawing/2014/main" id="{8BD94E96-B0C5-E61B-2C67-E852D72447C5}"/>
              </a:ext>
            </a:extLst>
          </p:cNvPr>
          <p:cNvSpPr>
            <a:spLocks noGrp="1" noChangeArrowheads="1"/>
          </p:cNvSpPr>
          <p:nvPr>
            <p:ph type="ctrTitle"/>
          </p:nvPr>
        </p:nvSpPr>
        <p:spPr>
          <a:xfrm>
            <a:off x="1360714" y="272141"/>
            <a:ext cx="9144000" cy="925287"/>
          </a:xfrm>
        </p:spPr>
        <p:txBody>
          <a:bodyPr/>
          <a:lstStyle/>
          <a:p>
            <a:pPr eaLnBrk="1" hangingPunct="1"/>
            <a:r>
              <a:rPr lang="en-US" b="1" dirty="0"/>
              <a:t>Agenda</a:t>
            </a:r>
          </a:p>
        </p:txBody>
      </p:sp>
    </p:spTree>
    <p:extLst>
      <p:ext uri="{BB962C8B-B14F-4D97-AF65-F5344CB8AC3E}">
        <p14:creationId xmlns:p14="http://schemas.microsoft.com/office/powerpoint/2010/main" val="3731105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8307748-A013-E0A2-9C19-B62725AFAED7}"/>
              </a:ext>
            </a:extLst>
          </p:cNvPr>
          <p:cNvSpPr>
            <a:spLocks noGrp="1" noChangeArrowheads="1"/>
          </p:cNvSpPr>
          <p:nvPr>
            <p:ph type="ctrTitle"/>
          </p:nvPr>
        </p:nvSpPr>
        <p:spPr>
          <a:xfrm>
            <a:off x="1393371" y="1045028"/>
            <a:ext cx="9144000" cy="1110342"/>
          </a:xfrm>
          <a:prstGeom prst="rect">
            <a:avLst/>
          </a:prstGeom>
        </p:spPr>
        <p:txBody>
          <a:bodyPr>
            <a:noAutofit/>
          </a:bodyPr>
          <a:lstStyle/>
          <a:p>
            <a:pPr eaLnBrk="1" hangingPunct="1"/>
            <a:r>
              <a:rPr lang="en-US" b="1" dirty="0"/>
              <a:t>BLOOM Bookkeepers History</a:t>
            </a:r>
          </a:p>
        </p:txBody>
      </p:sp>
    </p:spTree>
    <p:extLst>
      <p:ext uri="{BB962C8B-B14F-4D97-AF65-F5344CB8AC3E}">
        <p14:creationId xmlns:p14="http://schemas.microsoft.com/office/powerpoint/2010/main" val="3169627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5</a:t>
            </a:fld>
            <a:endParaRPr lang="en-US" dirty="0">
              <a:solidFill>
                <a:srgbClr val="618DD1"/>
              </a:solidFill>
            </a:endParaRPr>
          </a:p>
        </p:txBody>
      </p:sp>
      <p:sp>
        <p:nvSpPr>
          <p:cNvPr id="18435" name="Rectangle 2"/>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2998334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6</a:t>
            </a:fld>
            <a:endParaRPr lang="en-US" dirty="0">
              <a:solidFill>
                <a:srgbClr val="618DD1"/>
              </a:solidFill>
            </a:endParaRPr>
          </a:p>
        </p:txBody>
      </p:sp>
      <p:sp>
        <p:nvSpPr>
          <p:cNvPr id="18435" name="Rectangle 2"/>
          <p:cNvSpPr>
            <a:spLocks noGrp="1" noChangeArrowheads="1"/>
          </p:cNvSpPr>
          <p:nvPr>
            <p:ph type="title"/>
          </p:nvPr>
        </p:nvSpPr>
        <p:spPr/>
        <p:txBody>
          <a:bodyPr>
            <a:normAutofit/>
          </a:bodyPr>
          <a:lstStyle/>
          <a:p>
            <a:pPr eaLnBrk="1" hangingPunct="1"/>
            <a:r>
              <a:rPr lang="en-US" sz="6000" b="1" dirty="0">
                <a:latin typeface="Arial" charset="0"/>
              </a:rPr>
              <a:t>Vision Statement</a:t>
            </a:r>
          </a:p>
        </p:txBody>
      </p:sp>
      <p:sp>
        <p:nvSpPr>
          <p:cNvPr id="2" name="Subtitle 2">
            <a:extLst>
              <a:ext uri="{FF2B5EF4-FFF2-40B4-BE49-F238E27FC236}">
                <a16:creationId xmlns:a16="http://schemas.microsoft.com/office/drawing/2014/main" id="{3F6D2132-78E0-CB62-E79B-D19236A959C4}"/>
              </a:ext>
            </a:extLst>
          </p:cNvPr>
          <p:cNvSpPr txBox="1">
            <a:spLocks/>
          </p:cNvSpPr>
          <p:nvPr/>
        </p:nvSpPr>
        <p:spPr>
          <a:xfrm>
            <a:off x="1904999" y="2405744"/>
            <a:ext cx="8773886" cy="15566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dirty="0">
                <a:latin typeface="+mj-lt"/>
              </a:rPr>
              <a:t>To become the No. 1 Accounting/Bookkeepers service provider</a:t>
            </a:r>
          </a:p>
          <a:p>
            <a:pPr marL="342900" indent="-342900">
              <a:buFont typeface="+mj-lt"/>
              <a:buAutoNum type="arabicPeriod"/>
            </a:pPr>
            <a:endParaRPr lang="en-US" dirty="0">
              <a:latin typeface="Arial" charset="0"/>
            </a:endParaRPr>
          </a:p>
          <a:p>
            <a:endParaRPr lang="en-US" dirty="0"/>
          </a:p>
        </p:txBody>
      </p:sp>
    </p:spTree>
    <p:extLst>
      <p:ext uri="{BB962C8B-B14F-4D97-AF65-F5344CB8AC3E}">
        <p14:creationId xmlns:p14="http://schemas.microsoft.com/office/powerpoint/2010/main" val="2019918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7</a:t>
            </a:fld>
            <a:endParaRPr lang="en-US" dirty="0">
              <a:solidFill>
                <a:srgbClr val="618DD1"/>
              </a:solidFill>
            </a:endParaRPr>
          </a:p>
        </p:txBody>
      </p:sp>
      <p:sp>
        <p:nvSpPr>
          <p:cNvPr id="18435" name="Rectangle 2"/>
          <p:cNvSpPr>
            <a:spLocks noGrp="1" noChangeArrowheads="1"/>
          </p:cNvSpPr>
          <p:nvPr>
            <p:ph type="title"/>
          </p:nvPr>
        </p:nvSpPr>
        <p:spPr/>
        <p:txBody>
          <a:bodyPr>
            <a:normAutofit/>
          </a:bodyPr>
          <a:lstStyle/>
          <a:p>
            <a:pPr eaLnBrk="1" hangingPunct="1"/>
            <a:r>
              <a:rPr lang="en-US" sz="6000" b="1" dirty="0"/>
              <a:t>Mission Statement</a:t>
            </a:r>
          </a:p>
        </p:txBody>
      </p:sp>
      <p:sp>
        <p:nvSpPr>
          <p:cNvPr id="2" name="Rectangle 3">
            <a:extLst>
              <a:ext uri="{FF2B5EF4-FFF2-40B4-BE49-F238E27FC236}">
                <a16:creationId xmlns:a16="http://schemas.microsoft.com/office/drawing/2014/main" id="{DB7404DD-9C04-7784-D4D1-7A63A96D5228}"/>
              </a:ext>
            </a:extLst>
          </p:cNvPr>
          <p:cNvSpPr>
            <a:spLocks noGrp="1" noChangeArrowheads="1"/>
          </p:cNvSpPr>
          <p:nvPr>
            <p:ph idx="1"/>
          </p:nvPr>
        </p:nvSpPr>
        <p:spPr>
          <a:xfrm>
            <a:off x="1992086" y="2405743"/>
            <a:ext cx="8251371" cy="1839686"/>
          </a:xfrm>
        </p:spPr>
        <p:txBody>
          <a:bodyPr>
            <a:noAutofit/>
          </a:bodyPr>
          <a:lstStyle/>
          <a:p>
            <a:pPr marL="0" indent="0">
              <a:buNone/>
            </a:pPr>
            <a:r>
              <a:rPr lang="en-US" sz="4000" dirty="0">
                <a:latin typeface="+mj-lt"/>
              </a:rPr>
              <a:t>Attract, support and retain every client by providing a personalized experience that will exceed expectations</a:t>
            </a:r>
          </a:p>
        </p:txBody>
      </p:sp>
    </p:spTree>
    <p:extLst>
      <p:ext uri="{BB962C8B-B14F-4D97-AF65-F5344CB8AC3E}">
        <p14:creationId xmlns:p14="http://schemas.microsoft.com/office/powerpoint/2010/main" val="3222956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8</a:t>
            </a:fld>
            <a:endParaRPr lang="en-US" dirty="0">
              <a:solidFill>
                <a:srgbClr val="618DD1"/>
              </a:solidFill>
            </a:endParaRPr>
          </a:p>
        </p:txBody>
      </p:sp>
      <p:sp>
        <p:nvSpPr>
          <p:cNvPr id="4" name="Rectangle 2">
            <a:extLst>
              <a:ext uri="{FF2B5EF4-FFF2-40B4-BE49-F238E27FC236}">
                <a16:creationId xmlns:a16="http://schemas.microsoft.com/office/drawing/2014/main" id="{862DE480-6D4C-B309-8CED-984AB402A4A3}"/>
              </a:ext>
            </a:extLst>
          </p:cNvPr>
          <p:cNvSpPr txBox="1">
            <a:spLocks noChangeArrowheads="1"/>
          </p:cNvSpPr>
          <p:nvPr/>
        </p:nvSpPr>
        <p:spPr>
          <a:xfrm>
            <a:off x="1023257" y="985611"/>
            <a:ext cx="10515600" cy="41851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a:t>Questions?</a:t>
            </a:r>
            <a:br>
              <a:rPr lang="en-US" sz="6000" b="1"/>
            </a:br>
            <a:r>
              <a:rPr lang="en-US" sz="6000" b="1"/>
              <a:t>	</a:t>
            </a:r>
            <a:br>
              <a:rPr lang="en-US" sz="6000" b="1"/>
            </a:br>
            <a:br>
              <a:rPr lang="en-US" sz="6000" b="1"/>
            </a:br>
            <a:r>
              <a:rPr lang="en-US" sz="6000" b="1"/>
              <a:t>Comments?</a:t>
            </a:r>
            <a:endParaRPr lang="en-US" sz="6000" b="1" dirty="0"/>
          </a:p>
        </p:txBody>
      </p:sp>
    </p:spTree>
    <p:extLst>
      <p:ext uri="{BB962C8B-B14F-4D97-AF65-F5344CB8AC3E}">
        <p14:creationId xmlns:p14="http://schemas.microsoft.com/office/powerpoint/2010/main" val="309010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US" sz="6000" b="1" dirty="0"/>
              <a:t>Company Guiding Principles</a:t>
            </a:r>
          </a:p>
        </p:txBody>
      </p:sp>
      <p:sp>
        <p:nvSpPr>
          <p:cNvPr id="31747" name="Rectangle 3"/>
          <p:cNvSpPr>
            <a:spLocks noGrp="1" noChangeArrowheads="1"/>
          </p:cNvSpPr>
          <p:nvPr>
            <p:ph idx="1"/>
          </p:nvPr>
        </p:nvSpPr>
        <p:spPr>
          <a:xfrm>
            <a:off x="1284514" y="2391683"/>
            <a:ext cx="8958943" cy="1853746"/>
          </a:xfrm>
        </p:spPr>
        <p:txBody>
          <a:bodyPr>
            <a:noAutofit/>
          </a:bodyPr>
          <a:lstStyle/>
          <a:p>
            <a:pPr marL="0" indent="0">
              <a:buNone/>
            </a:pPr>
            <a:r>
              <a:rPr lang="en-US" sz="4000" dirty="0">
                <a:latin typeface="+mj-lt"/>
              </a:rPr>
              <a:t>We prioritize profitable and collaborative actions that elevate the team rather than the individual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10</a:t>
            </a:fld>
            <a:endParaRPr lang="en-US" dirty="0">
              <a:solidFill>
                <a:srgbClr val="618DD1"/>
              </a:solidFill>
            </a:endParaRPr>
          </a:p>
        </p:txBody>
      </p:sp>
      <p:sp>
        <p:nvSpPr>
          <p:cNvPr id="4" name="Rectangle 2">
            <a:extLst>
              <a:ext uri="{FF2B5EF4-FFF2-40B4-BE49-F238E27FC236}">
                <a16:creationId xmlns:a16="http://schemas.microsoft.com/office/drawing/2014/main" id="{79896771-5717-2677-308C-B8FA001A40F6}"/>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1148480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txBox="1">
            <a:spLocks noGrp="1"/>
          </p:cNvSpPr>
          <p:nvPr/>
        </p:nvSpPr>
        <p:spPr bwMode="auto">
          <a:xfrm>
            <a:off x="10055225" y="6629400"/>
            <a:ext cx="31115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a:defRPr>
                <a:solidFill>
                  <a:srgbClr val="283B6E"/>
                </a:solidFill>
                <a:latin typeface="Arial" charset="0"/>
                <a:ea typeface="ＭＳ Ｐゴシック" charset="0"/>
              </a:defRPr>
            </a:lvl1pPr>
            <a:lvl2pPr>
              <a:defRPr sz="1600">
                <a:solidFill>
                  <a:srgbClr val="283B6E"/>
                </a:solidFill>
                <a:latin typeface="Arial" charset="0"/>
                <a:ea typeface="ＭＳ Ｐゴシック" charset="0"/>
              </a:defRPr>
            </a:lvl2pPr>
            <a:lvl3pPr>
              <a:defRPr sz="1400">
                <a:solidFill>
                  <a:srgbClr val="283B6E"/>
                </a:solidFill>
                <a:latin typeface="Arial" charset="0"/>
                <a:ea typeface="ＭＳ Ｐゴシック" charset="0"/>
              </a:defRPr>
            </a:lvl3pPr>
            <a:lvl4pPr>
              <a:defRPr sz="1200">
                <a:solidFill>
                  <a:srgbClr val="283B6E"/>
                </a:solidFill>
                <a:latin typeface="Arial" charset="0"/>
                <a:ea typeface="ＭＳ Ｐゴシック" charset="0"/>
              </a:defRPr>
            </a:lvl4pPr>
            <a:lvl5pPr>
              <a:defRPr sz="1200">
                <a:solidFill>
                  <a:srgbClr val="283B6E"/>
                </a:solidFill>
                <a:latin typeface="Arial" charset="0"/>
                <a:ea typeface="ＭＳ Ｐゴシック" charset="0"/>
              </a:defRPr>
            </a:lvl5pPr>
            <a:lvl6pPr eaLnBrk="0" hangingPunct="0">
              <a:defRPr sz="1200">
                <a:solidFill>
                  <a:srgbClr val="283B6E"/>
                </a:solidFill>
                <a:latin typeface="Arial" charset="0"/>
                <a:ea typeface="ＭＳ Ｐゴシック" charset="0"/>
              </a:defRPr>
            </a:lvl6pPr>
            <a:lvl7pPr eaLnBrk="0" hangingPunct="0">
              <a:defRPr sz="1200">
                <a:solidFill>
                  <a:srgbClr val="283B6E"/>
                </a:solidFill>
                <a:latin typeface="Arial" charset="0"/>
                <a:ea typeface="ＭＳ Ｐゴシック" charset="0"/>
              </a:defRPr>
            </a:lvl7pPr>
            <a:lvl8pPr eaLnBrk="0" hangingPunct="0">
              <a:defRPr sz="1200">
                <a:solidFill>
                  <a:srgbClr val="283B6E"/>
                </a:solidFill>
                <a:latin typeface="Arial" charset="0"/>
                <a:ea typeface="ＭＳ Ｐゴシック" charset="0"/>
              </a:defRPr>
            </a:lvl8pPr>
            <a:lvl9pPr eaLnBrk="0" hangingPunct="0">
              <a:defRPr sz="1200">
                <a:solidFill>
                  <a:srgbClr val="283B6E"/>
                </a:solidFill>
                <a:latin typeface="Arial" charset="0"/>
                <a:ea typeface="ＭＳ Ｐゴシック" charset="0"/>
              </a:defRPr>
            </a:lvl9pPr>
          </a:lstStyle>
          <a:p>
            <a:pPr algn="r" eaLnBrk="1" hangingPunct="1"/>
            <a:fld id="{29426B2C-4217-ED40-A7E4-687EA342FA8B}" type="slidenum">
              <a:rPr lang="en-US" sz="900">
                <a:solidFill>
                  <a:srgbClr val="618DD1"/>
                </a:solidFill>
              </a:rPr>
              <a:pPr algn="r" eaLnBrk="1" hangingPunct="1"/>
              <a:t>11</a:t>
            </a:fld>
            <a:endParaRPr lang="en-US" sz="900" dirty="0">
              <a:solidFill>
                <a:srgbClr val="618DD1"/>
              </a:solidFill>
            </a:endParaRPr>
          </a:p>
        </p:txBody>
      </p:sp>
      <p:sp>
        <p:nvSpPr>
          <p:cNvPr id="37891" name="Rectangle 2"/>
          <p:cNvSpPr>
            <a:spLocks noGrp="1" noChangeArrowheads="1"/>
          </p:cNvSpPr>
          <p:nvPr>
            <p:ph type="title"/>
          </p:nvPr>
        </p:nvSpPr>
        <p:spPr>
          <a:prstGeom prst="rect">
            <a:avLst/>
          </a:prstGeom>
        </p:spPr>
        <p:txBody>
          <a:bodyPr>
            <a:normAutofit/>
          </a:bodyPr>
          <a:lstStyle/>
          <a:p>
            <a:pPr eaLnBrk="1" hangingPunct="1"/>
            <a:r>
              <a:rPr lang="en-US" sz="6000" b="1" dirty="0"/>
              <a:t>Benefits</a:t>
            </a:r>
          </a:p>
        </p:txBody>
      </p:sp>
      <p:sp>
        <p:nvSpPr>
          <p:cNvPr id="37892" name="Rectangle 3"/>
          <p:cNvSpPr>
            <a:spLocks noGrp="1" noChangeArrowheads="1"/>
          </p:cNvSpPr>
          <p:nvPr>
            <p:ph idx="1"/>
          </p:nvPr>
        </p:nvSpPr>
        <p:spPr>
          <a:xfrm>
            <a:off x="1066803" y="1816326"/>
            <a:ext cx="10678884" cy="3648303"/>
          </a:xfrm>
          <a:prstGeom prst="rect">
            <a:avLst/>
          </a:prstGeom>
        </p:spPr>
        <p:txBody>
          <a:bodyPr>
            <a:normAutofit fontScale="92500" lnSpcReduction="10000"/>
          </a:bodyPr>
          <a:lstStyle/>
          <a:p>
            <a:pPr eaLnBrk="1" hangingPunct="1">
              <a:buFontTx/>
              <a:buNone/>
            </a:pPr>
            <a:r>
              <a:rPr lang="en-US" sz="4300" dirty="0">
                <a:latin typeface="+mj-lt"/>
              </a:rPr>
              <a:t>Legally provided or mandated benefits are those required by federal and state laws, these include:</a:t>
            </a:r>
          </a:p>
          <a:p>
            <a:pPr marL="285750" indent="-285750">
              <a:buFont typeface="Arial"/>
              <a:buChar char="•"/>
            </a:pPr>
            <a:r>
              <a:rPr lang="en-US" sz="4300" dirty="0">
                <a:latin typeface="+mj-lt"/>
              </a:rPr>
              <a:t>Social Security</a:t>
            </a:r>
          </a:p>
          <a:p>
            <a:pPr marL="285750" indent="-285750">
              <a:buFont typeface="Arial"/>
              <a:buChar char="•"/>
            </a:pPr>
            <a:r>
              <a:rPr lang="en-US" sz="4300" dirty="0">
                <a:latin typeface="+mj-lt"/>
              </a:rPr>
              <a:t>Medicare</a:t>
            </a:r>
          </a:p>
          <a:p>
            <a:pPr marL="285750" indent="-285750">
              <a:buFont typeface="Arial"/>
              <a:buChar char="•"/>
            </a:pPr>
            <a:r>
              <a:rPr lang="en-US" sz="4300" dirty="0">
                <a:latin typeface="+mj-lt"/>
              </a:rPr>
              <a:t>Workers’ compensation</a:t>
            </a:r>
          </a:p>
          <a:p>
            <a:pPr marL="285750" indent="-285750">
              <a:buFont typeface="Arial"/>
              <a:buChar char="•"/>
            </a:pPr>
            <a:r>
              <a:rPr lang="en-US" sz="4300" dirty="0">
                <a:latin typeface="+mj-lt"/>
              </a:rPr>
              <a:t>Unemployment</a:t>
            </a:r>
          </a:p>
          <a:p>
            <a:pPr eaLnBrk="1" hangingPunct="1">
              <a:buFontTx/>
              <a:buNone/>
            </a:pPr>
            <a:endParaRPr lang="en-US" dirty="0">
              <a:latin typeface="Arial" charset="0"/>
            </a:endParaRPr>
          </a:p>
          <a:p>
            <a:pPr eaLnBrk="1" hangingPunct="1">
              <a:buFontTx/>
              <a:buNone/>
            </a:pPr>
            <a:endParaRPr lang="en-US" dirty="0">
              <a:latin typeface="Arial" charset="0"/>
            </a:endParaRPr>
          </a:p>
          <a:p>
            <a:pPr eaLnBrk="1" hangingPunct="1">
              <a:buFontTx/>
              <a:buNone/>
            </a:pPr>
            <a:endParaRPr lang="en-US" dirty="0">
              <a:latin typeface="Arial" charset="0"/>
            </a:endParaRPr>
          </a:p>
          <a:p>
            <a:pPr eaLnBrk="1" hangingPunct="1">
              <a:buFontTx/>
              <a:buNone/>
            </a:pPr>
            <a:endParaRPr lang="en-US" dirty="0">
              <a:latin typeface="Arial"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txBox="1">
            <a:spLocks noGrp="1"/>
          </p:cNvSpPr>
          <p:nvPr/>
        </p:nvSpPr>
        <p:spPr bwMode="auto">
          <a:xfrm>
            <a:off x="10055225" y="6629400"/>
            <a:ext cx="31115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a:defRPr>
                <a:solidFill>
                  <a:srgbClr val="283B6E"/>
                </a:solidFill>
                <a:latin typeface="Arial" charset="0"/>
                <a:ea typeface="ＭＳ Ｐゴシック" charset="0"/>
              </a:defRPr>
            </a:lvl1pPr>
            <a:lvl2pPr>
              <a:defRPr sz="1600">
                <a:solidFill>
                  <a:srgbClr val="283B6E"/>
                </a:solidFill>
                <a:latin typeface="Arial" charset="0"/>
                <a:ea typeface="ＭＳ Ｐゴシック" charset="0"/>
              </a:defRPr>
            </a:lvl2pPr>
            <a:lvl3pPr>
              <a:defRPr sz="1400">
                <a:solidFill>
                  <a:srgbClr val="283B6E"/>
                </a:solidFill>
                <a:latin typeface="Arial" charset="0"/>
                <a:ea typeface="ＭＳ Ｐゴシック" charset="0"/>
              </a:defRPr>
            </a:lvl3pPr>
            <a:lvl4pPr>
              <a:defRPr sz="1200">
                <a:solidFill>
                  <a:srgbClr val="283B6E"/>
                </a:solidFill>
                <a:latin typeface="Arial" charset="0"/>
                <a:ea typeface="ＭＳ Ｐゴシック" charset="0"/>
              </a:defRPr>
            </a:lvl4pPr>
            <a:lvl5pPr>
              <a:defRPr sz="1200">
                <a:solidFill>
                  <a:srgbClr val="283B6E"/>
                </a:solidFill>
                <a:latin typeface="Arial" charset="0"/>
                <a:ea typeface="ＭＳ Ｐゴシック" charset="0"/>
              </a:defRPr>
            </a:lvl5pPr>
            <a:lvl6pPr eaLnBrk="0" hangingPunct="0">
              <a:defRPr sz="1200">
                <a:solidFill>
                  <a:srgbClr val="283B6E"/>
                </a:solidFill>
                <a:latin typeface="Arial" charset="0"/>
                <a:ea typeface="ＭＳ Ｐゴシック" charset="0"/>
              </a:defRPr>
            </a:lvl6pPr>
            <a:lvl7pPr eaLnBrk="0" hangingPunct="0">
              <a:defRPr sz="1200">
                <a:solidFill>
                  <a:srgbClr val="283B6E"/>
                </a:solidFill>
                <a:latin typeface="Arial" charset="0"/>
                <a:ea typeface="ＭＳ Ｐゴシック" charset="0"/>
              </a:defRPr>
            </a:lvl7pPr>
            <a:lvl8pPr eaLnBrk="0" hangingPunct="0">
              <a:defRPr sz="1200">
                <a:solidFill>
                  <a:srgbClr val="283B6E"/>
                </a:solidFill>
                <a:latin typeface="Arial" charset="0"/>
                <a:ea typeface="ＭＳ Ｐゴシック" charset="0"/>
              </a:defRPr>
            </a:lvl8pPr>
            <a:lvl9pPr eaLnBrk="0" hangingPunct="0">
              <a:defRPr sz="1200">
                <a:solidFill>
                  <a:srgbClr val="283B6E"/>
                </a:solidFill>
                <a:latin typeface="Arial" charset="0"/>
                <a:ea typeface="ＭＳ Ｐゴシック" charset="0"/>
              </a:defRPr>
            </a:lvl9pPr>
          </a:lstStyle>
          <a:p>
            <a:pPr algn="r" eaLnBrk="1" hangingPunct="1"/>
            <a:fld id="{3A7CBF9F-D86E-914B-8028-764E888C2C6E}" type="slidenum">
              <a:rPr lang="en-US" sz="900">
                <a:solidFill>
                  <a:srgbClr val="618DD1"/>
                </a:solidFill>
              </a:rPr>
              <a:pPr algn="r" eaLnBrk="1" hangingPunct="1"/>
              <a:t>12</a:t>
            </a:fld>
            <a:endParaRPr lang="en-US" sz="900" dirty="0">
              <a:solidFill>
                <a:srgbClr val="618DD1"/>
              </a:solidFill>
            </a:endParaRPr>
          </a:p>
        </p:txBody>
      </p:sp>
      <p:sp>
        <p:nvSpPr>
          <p:cNvPr id="44035" name="Rectangle 2"/>
          <p:cNvSpPr>
            <a:spLocks noGrp="1" noChangeArrowheads="1"/>
          </p:cNvSpPr>
          <p:nvPr>
            <p:ph type="title"/>
          </p:nvPr>
        </p:nvSpPr>
        <p:spPr>
          <a:xfrm>
            <a:off x="838199" y="156710"/>
            <a:ext cx="10515600" cy="1008062"/>
          </a:xfrm>
          <a:prstGeom prst="rect">
            <a:avLst/>
          </a:prstGeom>
        </p:spPr>
        <p:txBody>
          <a:bodyPr>
            <a:normAutofit/>
          </a:bodyPr>
          <a:lstStyle/>
          <a:p>
            <a:pPr eaLnBrk="1" hangingPunct="1"/>
            <a:r>
              <a:rPr lang="en-US" sz="6000" b="1" dirty="0">
                <a:latin typeface="+mn-lt"/>
              </a:rPr>
              <a:t>Benefits (cont.)</a:t>
            </a:r>
          </a:p>
        </p:txBody>
      </p:sp>
      <p:sp>
        <p:nvSpPr>
          <p:cNvPr id="44036" name="Rectangle 3"/>
          <p:cNvSpPr>
            <a:spLocks noGrp="1" noChangeArrowheads="1"/>
          </p:cNvSpPr>
          <p:nvPr>
            <p:ph idx="1"/>
          </p:nvPr>
        </p:nvSpPr>
        <p:spPr>
          <a:xfrm>
            <a:off x="1050471" y="1253672"/>
            <a:ext cx="10091057" cy="4504871"/>
          </a:xfrm>
          <a:prstGeom prst="rect">
            <a:avLst/>
          </a:prstGeom>
        </p:spPr>
        <p:txBody>
          <a:bodyPr>
            <a:noAutofit/>
          </a:bodyPr>
          <a:lstStyle/>
          <a:p>
            <a:pPr eaLnBrk="1" hangingPunct="1">
              <a:buFontTx/>
              <a:buNone/>
            </a:pPr>
            <a:r>
              <a:rPr lang="en-US" sz="3600" b="1" dirty="0">
                <a:latin typeface="+mj-lt"/>
              </a:rPr>
              <a:t>BLOOM Accounting </a:t>
            </a:r>
            <a:r>
              <a:rPr lang="en-US" sz="3600" dirty="0">
                <a:latin typeface="+mj-lt"/>
              </a:rPr>
              <a:t>provides a healthcare stipend towards Employee only category coverage for:</a:t>
            </a:r>
          </a:p>
          <a:p>
            <a:pPr marL="742950" lvl="1" indent="-285750">
              <a:buFont typeface="Arial"/>
              <a:buChar char="•"/>
            </a:pPr>
            <a:r>
              <a:rPr lang="en-US" sz="3600" dirty="0">
                <a:latin typeface="+mj-lt"/>
              </a:rPr>
              <a:t>Health insurance</a:t>
            </a:r>
          </a:p>
          <a:p>
            <a:pPr marL="742950" lvl="1" indent="-285750">
              <a:buFont typeface="Arial"/>
              <a:buChar char="•"/>
            </a:pPr>
            <a:r>
              <a:rPr lang="en-US" sz="3600" dirty="0">
                <a:latin typeface="+mj-lt"/>
              </a:rPr>
              <a:t>Prescription drug insurance</a:t>
            </a:r>
          </a:p>
          <a:p>
            <a:pPr marL="742950" lvl="1" indent="-285750">
              <a:buFont typeface="Arial"/>
              <a:buChar char="•"/>
            </a:pPr>
            <a:r>
              <a:rPr lang="en-US" sz="3600" dirty="0">
                <a:latin typeface="+mj-lt"/>
              </a:rPr>
              <a:t>Dental insurance</a:t>
            </a:r>
          </a:p>
          <a:p>
            <a:pPr marL="742950" lvl="1" indent="-285750">
              <a:buFont typeface="Arial"/>
              <a:buChar char="•"/>
            </a:pPr>
            <a:r>
              <a:rPr lang="en-US" sz="3600" dirty="0">
                <a:latin typeface="+mj-lt"/>
              </a:rPr>
              <a:t>Vision insurance; plus</a:t>
            </a:r>
          </a:p>
          <a:p>
            <a:pPr marL="742950" lvl="1" indent="-285750">
              <a:buFont typeface="Arial"/>
              <a:buChar char="•"/>
            </a:pPr>
            <a:r>
              <a:rPr lang="en-US" sz="3600" dirty="0">
                <a:latin typeface="+mj-lt"/>
              </a:rPr>
              <a:t>Mileage reimbursement on all approved business related trips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p:cNvSpPr txBox="1">
            <a:spLocks noGrp="1"/>
          </p:cNvSpPr>
          <p:nvPr/>
        </p:nvSpPr>
        <p:spPr bwMode="auto">
          <a:xfrm>
            <a:off x="10055225" y="6629400"/>
            <a:ext cx="31115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a:defRPr>
                <a:solidFill>
                  <a:srgbClr val="283B6E"/>
                </a:solidFill>
                <a:latin typeface="Arial" charset="0"/>
                <a:ea typeface="ＭＳ Ｐゴシック" charset="0"/>
              </a:defRPr>
            </a:lvl1pPr>
            <a:lvl2pPr>
              <a:defRPr sz="1600">
                <a:solidFill>
                  <a:srgbClr val="283B6E"/>
                </a:solidFill>
                <a:latin typeface="Arial" charset="0"/>
                <a:ea typeface="ＭＳ Ｐゴシック" charset="0"/>
              </a:defRPr>
            </a:lvl2pPr>
            <a:lvl3pPr>
              <a:defRPr sz="1400">
                <a:solidFill>
                  <a:srgbClr val="283B6E"/>
                </a:solidFill>
                <a:latin typeface="Arial" charset="0"/>
                <a:ea typeface="ＭＳ Ｐゴシック" charset="0"/>
              </a:defRPr>
            </a:lvl3pPr>
            <a:lvl4pPr>
              <a:defRPr sz="1200">
                <a:solidFill>
                  <a:srgbClr val="283B6E"/>
                </a:solidFill>
                <a:latin typeface="Arial" charset="0"/>
                <a:ea typeface="ＭＳ Ｐゴシック" charset="0"/>
              </a:defRPr>
            </a:lvl4pPr>
            <a:lvl5pPr>
              <a:defRPr sz="1200">
                <a:solidFill>
                  <a:srgbClr val="283B6E"/>
                </a:solidFill>
                <a:latin typeface="Arial" charset="0"/>
                <a:ea typeface="ＭＳ Ｐゴシック" charset="0"/>
              </a:defRPr>
            </a:lvl5pPr>
            <a:lvl6pPr eaLnBrk="0" hangingPunct="0">
              <a:defRPr sz="1200">
                <a:solidFill>
                  <a:srgbClr val="283B6E"/>
                </a:solidFill>
                <a:latin typeface="Arial" charset="0"/>
                <a:ea typeface="ＭＳ Ｐゴシック" charset="0"/>
              </a:defRPr>
            </a:lvl6pPr>
            <a:lvl7pPr eaLnBrk="0" hangingPunct="0">
              <a:defRPr sz="1200">
                <a:solidFill>
                  <a:srgbClr val="283B6E"/>
                </a:solidFill>
                <a:latin typeface="Arial" charset="0"/>
                <a:ea typeface="ＭＳ Ｐゴシック" charset="0"/>
              </a:defRPr>
            </a:lvl7pPr>
            <a:lvl8pPr eaLnBrk="0" hangingPunct="0">
              <a:defRPr sz="1200">
                <a:solidFill>
                  <a:srgbClr val="283B6E"/>
                </a:solidFill>
                <a:latin typeface="Arial" charset="0"/>
                <a:ea typeface="ＭＳ Ｐゴシック" charset="0"/>
              </a:defRPr>
            </a:lvl8pPr>
            <a:lvl9pPr eaLnBrk="0" hangingPunct="0">
              <a:defRPr sz="1200">
                <a:solidFill>
                  <a:srgbClr val="283B6E"/>
                </a:solidFill>
                <a:latin typeface="Arial" charset="0"/>
                <a:ea typeface="ＭＳ Ｐゴシック" charset="0"/>
              </a:defRPr>
            </a:lvl9pPr>
          </a:lstStyle>
          <a:p>
            <a:pPr algn="r" eaLnBrk="1" hangingPunct="1"/>
            <a:fld id="{4C91C75C-025D-6A4A-81D9-5E0F0FB3B5CC}" type="slidenum">
              <a:rPr lang="en-US" sz="900">
                <a:solidFill>
                  <a:srgbClr val="618DD1"/>
                </a:solidFill>
              </a:rPr>
              <a:pPr algn="r" eaLnBrk="1" hangingPunct="1"/>
              <a:t>13</a:t>
            </a:fld>
            <a:endParaRPr lang="en-US" sz="900" dirty="0">
              <a:solidFill>
                <a:srgbClr val="618DD1"/>
              </a:solidFill>
            </a:endParaRPr>
          </a:p>
        </p:txBody>
      </p:sp>
      <p:sp>
        <p:nvSpPr>
          <p:cNvPr id="48131" name="Rectangle 2"/>
          <p:cNvSpPr>
            <a:spLocks noGrp="1" noChangeArrowheads="1"/>
          </p:cNvSpPr>
          <p:nvPr>
            <p:ph type="title"/>
          </p:nvPr>
        </p:nvSpPr>
        <p:spPr>
          <a:prstGeom prst="rect">
            <a:avLst/>
          </a:prstGeom>
        </p:spPr>
        <p:txBody>
          <a:bodyPr>
            <a:normAutofit/>
          </a:bodyPr>
          <a:lstStyle/>
          <a:p>
            <a:pPr eaLnBrk="1" hangingPunct="1"/>
            <a:r>
              <a:rPr lang="en-US" sz="6000" b="1" dirty="0"/>
              <a:t>Benefits (cont.)</a:t>
            </a:r>
          </a:p>
        </p:txBody>
      </p:sp>
      <p:sp>
        <p:nvSpPr>
          <p:cNvPr id="48132" name="Rectangle 3"/>
          <p:cNvSpPr>
            <a:spLocks noGrp="1" noChangeArrowheads="1"/>
          </p:cNvSpPr>
          <p:nvPr>
            <p:ph idx="1"/>
          </p:nvPr>
        </p:nvSpPr>
        <p:spPr>
          <a:xfrm>
            <a:off x="957943" y="1600200"/>
            <a:ext cx="10776857" cy="4223657"/>
          </a:xfrm>
          <a:prstGeom prst="rect">
            <a:avLst/>
          </a:prstGeom>
        </p:spPr>
        <p:txBody>
          <a:bodyPr>
            <a:normAutofit lnSpcReduction="10000"/>
          </a:bodyPr>
          <a:lstStyle/>
          <a:p>
            <a:pPr eaLnBrk="1" hangingPunct="1">
              <a:buFontTx/>
              <a:buNone/>
            </a:pPr>
            <a:r>
              <a:rPr lang="en-US" sz="4000" dirty="0">
                <a:latin typeface="+mj-lt"/>
              </a:rPr>
              <a:t>Other benefits that BLOOM Accounting</a:t>
            </a:r>
            <a:r>
              <a:rPr lang="en-US" sz="4000" b="1" dirty="0">
                <a:latin typeface="+mj-lt"/>
              </a:rPr>
              <a:t> </a:t>
            </a:r>
            <a:r>
              <a:rPr lang="en-US" sz="4000" dirty="0">
                <a:latin typeface="+mj-lt"/>
              </a:rPr>
              <a:t>provides voluntarily and for which the company pays 100% of the cost:</a:t>
            </a:r>
          </a:p>
          <a:p>
            <a:pPr marL="342900" indent="-342900">
              <a:buFont typeface="Arial"/>
              <a:buChar char="•"/>
            </a:pPr>
            <a:r>
              <a:rPr lang="en-US" sz="4000" dirty="0">
                <a:latin typeface="+mj-lt"/>
              </a:rPr>
              <a:t>Paid time off:</a:t>
            </a:r>
          </a:p>
          <a:p>
            <a:pPr marL="628650" lvl="1" indent="-285750">
              <a:buFont typeface="Arial"/>
              <a:buChar char="•"/>
            </a:pPr>
            <a:r>
              <a:rPr lang="en-US" sz="4000" dirty="0">
                <a:latin typeface="+mj-lt"/>
              </a:rPr>
              <a:t>Vacation </a:t>
            </a:r>
            <a:r>
              <a:rPr lang="en-US" sz="4300" dirty="0">
                <a:latin typeface="+mj-lt"/>
              </a:rPr>
              <a:t>leave</a:t>
            </a:r>
            <a:r>
              <a:rPr lang="en-US" sz="4000" dirty="0">
                <a:latin typeface="+mj-lt"/>
              </a:rPr>
              <a:t>: 4 weeks a year</a:t>
            </a:r>
          </a:p>
          <a:p>
            <a:pPr marL="628650" lvl="1" indent="-285750">
              <a:buFont typeface="Arial"/>
              <a:buChar char="•"/>
            </a:pPr>
            <a:r>
              <a:rPr lang="en-US" sz="4000" dirty="0">
                <a:latin typeface="+mj-lt"/>
              </a:rPr>
              <a:t>Sick and/or personal days: 5 days a year</a:t>
            </a:r>
          </a:p>
          <a:p>
            <a:pPr marL="628650" lvl="1" indent="-285750">
              <a:buFont typeface="Arial"/>
              <a:buChar char="•"/>
            </a:pPr>
            <a:r>
              <a:rPr lang="en-US" sz="4000" dirty="0">
                <a:latin typeface="+mj-lt"/>
              </a:rPr>
              <a:t>Holidays: 9 days a year</a:t>
            </a:r>
          </a:p>
          <a:p>
            <a:pPr marL="285750" indent="-285750">
              <a:buFont typeface="Arial"/>
              <a:buChar char="•"/>
            </a:pPr>
            <a:endParaRPr lang="en-US" sz="1600" dirty="0">
              <a:latin typeface="Arial" charset="0"/>
            </a:endParaRPr>
          </a:p>
          <a:p>
            <a:pPr marL="285750" indent="-285750">
              <a:buFont typeface="Arial"/>
              <a:buChar char="•"/>
            </a:pPr>
            <a:endParaRPr lang="en-US" dirty="0">
              <a:latin typeface="Arial"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14</a:t>
            </a:fld>
            <a:endParaRPr lang="en-US" dirty="0">
              <a:solidFill>
                <a:srgbClr val="618DD1"/>
              </a:solidFill>
            </a:endParaRPr>
          </a:p>
        </p:txBody>
      </p:sp>
      <p:sp>
        <p:nvSpPr>
          <p:cNvPr id="4" name="Rectangle 2">
            <a:extLst>
              <a:ext uri="{FF2B5EF4-FFF2-40B4-BE49-F238E27FC236}">
                <a16:creationId xmlns:a16="http://schemas.microsoft.com/office/drawing/2014/main" id="{A00AF898-4523-3938-098A-9A3A49D256CB}"/>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2720774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a:bodyPr>
          <a:lstStyle/>
          <a:p>
            <a:r>
              <a:rPr lang="en-US" sz="6000" b="1" dirty="0"/>
              <a:t>Payroll</a:t>
            </a:r>
          </a:p>
        </p:txBody>
      </p:sp>
      <p:sp>
        <p:nvSpPr>
          <p:cNvPr id="41987" name="Rectangle 3"/>
          <p:cNvSpPr>
            <a:spLocks noGrp="1" noChangeArrowheads="1"/>
          </p:cNvSpPr>
          <p:nvPr>
            <p:ph type="body" idx="1"/>
          </p:nvPr>
        </p:nvSpPr>
        <p:spPr>
          <a:xfrm>
            <a:off x="2090056" y="2002971"/>
            <a:ext cx="7456715" cy="2852058"/>
          </a:xfrm>
        </p:spPr>
        <p:txBody>
          <a:bodyPr/>
          <a:lstStyle/>
          <a:p>
            <a:pPr marL="285750" indent="-285750">
              <a:buFont typeface="Arial"/>
              <a:buChar char="•"/>
            </a:pPr>
            <a:r>
              <a:rPr lang="en-US" sz="4000" dirty="0">
                <a:latin typeface="+mj-lt"/>
              </a:rPr>
              <a:t>Biweekly payroll</a:t>
            </a:r>
          </a:p>
          <a:p>
            <a:pPr marL="285750" indent="-285750">
              <a:buFont typeface="Arial"/>
              <a:buChar char="•"/>
            </a:pPr>
            <a:r>
              <a:rPr lang="en-US" sz="4000" dirty="0">
                <a:latin typeface="+mj-lt"/>
              </a:rPr>
              <a:t>Pay day: every other Friday</a:t>
            </a:r>
          </a:p>
          <a:p>
            <a:pPr marL="285750" indent="-285750">
              <a:buFont typeface="Arial"/>
              <a:buChar char="•"/>
            </a:pPr>
            <a:r>
              <a:rPr lang="en-US" sz="4000" dirty="0">
                <a:latin typeface="+mj-lt"/>
              </a:rPr>
              <a:t>Direct deposit: up to two accounts (savings or checking)</a:t>
            </a:r>
          </a:p>
          <a:p>
            <a:pPr>
              <a:buFontTx/>
              <a:buNone/>
            </a:pPr>
            <a:endParaRPr lang="en-US" dirty="0">
              <a:latin typeface="Arial"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16</a:t>
            </a:fld>
            <a:endParaRPr lang="en-US" dirty="0">
              <a:solidFill>
                <a:srgbClr val="618DD1"/>
              </a:solidFill>
            </a:endParaRPr>
          </a:p>
        </p:txBody>
      </p:sp>
      <p:sp>
        <p:nvSpPr>
          <p:cNvPr id="4" name="Rectangle 2">
            <a:extLst>
              <a:ext uri="{FF2B5EF4-FFF2-40B4-BE49-F238E27FC236}">
                <a16:creationId xmlns:a16="http://schemas.microsoft.com/office/drawing/2014/main" id="{6DC6D2E2-34DC-8386-7C31-E5788019BD01}"/>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3407207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a:bodyPr>
          <a:lstStyle/>
          <a:p>
            <a:r>
              <a:rPr lang="en-US" sz="6000" b="1" dirty="0"/>
              <a:t>Information Technology Services</a:t>
            </a:r>
          </a:p>
        </p:txBody>
      </p:sp>
      <p:sp>
        <p:nvSpPr>
          <p:cNvPr id="60419" name="Rectangle 3"/>
          <p:cNvSpPr>
            <a:spLocks noGrp="1" noChangeArrowheads="1"/>
          </p:cNvSpPr>
          <p:nvPr>
            <p:ph idx="1"/>
          </p:nvPr>
        </p:nvSpPr>
        <p:spPr>
          <a:xfrm>
            <a:off x="1785257" y="1905000"/>
            <a:ext cx="8784771" cy="3048000"/>
          </a:xfrm>
        </p:spPr>
        <p:txBody>
          <a:bodyPr/>
          <a:lstStyle/>
          <a:p>
            <a:pPr marL="285750" indent="-285750">
              <a:buFont typeface="Arial"/>
              <a:buChar char="•"/>
            </a:pPr>
            <a:r>
              <a:rPr lang="en-US" sz="4000" dirty="0">
                <a:latin typeface="+mj-lt"/>
              </a:rPr>
              <a:t>Software</a:t>
            </a:r>
          </a:p>
          <a:p>
            <a:pPr marL="285750" indent="-285750">
              <a:buFont typeface="Arial"/>
              <a:buChar char="•"/>
            </a:pPr>
            <a:r>
              <a:rPr lang="en-US" sz="4000" dirty="0">
                <a:latin typeface="+mj-lt"/>
              </a:rPr>
              <a:t>Network and drives</a:t>
            </a:r>
          </a:p>
          <a:p>
            <a:pPr marL="285750" indent="-285750">
              <a:buFont typeface="Arial"/>
              <a:buChar char="•"/>
            </a:pPr>
            <a:r>
              <a:rPr lang="en-US" sz="4000" dirty="0">
                <a:latin typeface="+mj-lt"/>
              </a:rPr>
              <a:t>Help desk information: Who to call when issues arise?</a:t>
            </a:r>
          </a:p>
          <a:p>
            <a:pPr>
              <a:buFontTx/>
              <a:buNone/>
            </a:pPr>
            <a:endParaRPr lang="en-US" sz="4000" dirty="0">
              <a:latin typeface="Arial"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18</a:t>
            </a:fld>
            <a:endParaRPr lang="en-US" dirty="0">
              <a:solidFill>
                <a:srgbClr val="618DD1"/>
              </a:solidFill>
            </a:endParaRPr>
          </a:p>
        </p:txBody>
      </p:sp>
      <p:sp>
        <p:nvSpPr>
          <p:cNvPr id="4" name="Rectangle 2">
            <a:extLst>
              <a:ext uri="{FF2B5EF4-FFF2-40B4-BE49-F238E27FC236}">
                <a16:creationId xmlns:a16="http://schemas.microsoft.com/office/drawing/2014/main" id="{E93D8636-E94A-EB2B-129C-61561E605680}"/>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129753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38200" y="272143"/>
            <a:ext cx="10515600" cy="870857"/>
          </a:xfrm>
        </p:spPr>
        <p:txBody>
          <a:bodyPr>
            <a:noAutofit/>
          </a:bodyPr>
          <a:lstStyle/>
          <a:p>
            <a:r>
              <a:rPr lang="en-US" sz="6000" b="1" dirty="0"/>
              <a:t>New-Hire Paperwork</a:t>
            </a:r>
          </a:p>
        </p:txBody>
      </p:sp>
      <p:sp>
        <p:nvSpPr>
          <p:cNvPr id="17411" name="Rectangle 3"/>
          <p:cNvSpPr>
            <a:spLocks noGrp="1" noChangeArrowheads="1"/>
          </p:cNvSpPr>
          <p:nvPr>
            <p:ph idx="1"/>
          </p:nvPr>
        </p:nvSpPr>
        <p:spPr>
          <a:xfrm>
            <a:off x="925286" y="1143001"/>
            <a:ext cx="10156371" cy="5355770"/>
          </a:xfrm>
        </p:spPr>
        <p:txBody>
          <a:bodyPr>
            <a:noAutofit/>
          </a:bodyPr>
          <a:lstStyle/>
          <a:p>
            <a:pPr marL="285750" indent="-285750">
              <a:buFont typeface="Arial"/>
              <a:buChar char="•"/>
            </a:pPr>
            <a:r>
              <a:rPr lang="en-US" sz="3600" dirty="0">
                <a:latin typeface="+mj-lt"/>
              </a:rPr>
              <a:t>Form I-9 </a:t>
            </a:r>
          </a:p>
          <a:p>
            <a:pPr marL="285750" indent="-285750">
              <a:buFont typeface="Arial"/>
              <a:buChar char="•"/>
            </a:pPr>
            <a:r>
              <a:rPr lang="en-US" sz="3600" dirty="0">
                <a:latin typeface="+mj-lt"/>
              </a:rPr>
              <a:t>Signed offer and acknowledgement letter</a:t>
            </a:r>
          </a:p>
          <a:p>
            <a:pPr marL="742950" lvl="1" indent="-285750">
              <a:buFont typeface="Arial"/>
              <a:buChar char="•"/>
            </a:pPr>
            <a:r>
              <a:rPr lang="en-US" sz="3600" dirty="0">
                <a:latin typeface="+mj-lt"/>
              </a:rPr>
              <a:t>Conflict of interest statement/confidentiality agreement</a:t>
            </a:r>
          </a:p>
          <a:p>
            <a:pPr marL="742950" lvl="1" indent="-285750">
              <a:buFont typeface="Arial"/>
              <a:buChar char="•"/>
            </a:pPr>
            <a:r>
              <a:rPr lang="en-US" sz="3600" dirty="0">
                <a:latin typeface="+mj-lt"/>
              </a:rPr>
              <a:t>Nondisclosure agreement</a:t>
            </a:r>
          </a:p>
          <a:p>
            <a:pPr marL="285750" indent="-285750">
              <a:buFont typeface="Arial"/>
              <a:buChar char="•"/>
            </a:pPr>
            <a:r>
              <a:rPr lang="en-US" sz="3600" dirty="0">
                <a:latin typeface="+mj-lt"/>
              </a:rPr>
              <a:t>Employee data form</a:t>
            </a:r>
          </a:p>
          <a:p>
            <a:pPr marL="285750" indent="-285750">
              <a:buFont typeface="Arial"/>
              <a:buChar char="•"/>
            </a:pPr>
            <a:r>
              <a:rPr lang="en-US" sz="3600" dirty="0">
                <a:latin typeface="+mj-lt"/>
              </a:rPr>
              <a:t>W-4 and state tax withholding form(s)</a:t>
            </a:r>
          </a:p>
          <a:p>
            <a:pPr marL="285750" indent="-285750">
              <a:buFont typeface="Arial"/>
              <a:buChar char="•"/>
            </a:pPr>
            <a:r>
              <a:rPr lang="en-US" sz="3600" dirty="0">
                <a:latin typeface="+mj-lt"/>
              </a:rPr>
              <a:t>Direct deposit form</a:t>
            </a:r>
          </a:p>
          <a:p>
            <a:pPr marL="285750" indent="-285750">
              <a:buFont typeface="Arial"/>
              <a:buChar char="•"/>
            </a:pPr>
            <a:r>
              <a:rPr lang="en-US" sz="3600" dirty="0">
                <a:latin typeface="+mj-lt"/>
              </a:rPr>
              <a:t>Benefits enrollment form or invoice</a:t>
            </a:r>
            <a:endParaRPr lang="en-US" sz="3600" dirty="0">
              <a:latin typeface="Arial"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20</a:t>
            </a:fld>
            <a:endParaRPr lang="en-US" dirty="0">
              <a:solidFill>
                <a:srgbClr val="618DD1"/>
              </a:solidFill>
            </a:endParaRPr>
          </a:p>
        </p:txBody>
      </p:sp>
      <p:sp>
        <p:nvSpPr>
          <p:cNvPr id="5" name="Rectangle 2">
            <a:extLst>
              <a:ext uri="{FF2B5EF4-FFF2-40B4-BE49-F238E27FC236}">
                <a16:creationId xmlns:a16="http://schemas.microsoft.com/office/drawing/2014/main" id="{42F549FD-12AE-7B26-B548-221D23866C83}"/>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2075740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3"/>
          <p:cNvSpPr txBox="1">
            <a:spLocks noGrp="1"/>
          </p:cNvSpPr>
          <p:nvPr/>
        </p:nvSpPr>
        <p:spPr bwMode="auto">
          <a:xfrm>
            <a:off x="10055225" y="6629400"/>
            <a:ext cx="31115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a:defRPr>
                <a:solidFill>
                  <a:srgbClr val="283B6E"/>
                </a:solidFill>
                <a:latin typeface="Arial" charset="0"/>
                <a:ea typeface="ＭＳ Ｐゴシック" charset="0"/>
              </a:defRPr>
            </a:lvl1pPr>
            <a:lvl2pPr>
              <a:defRPr sz="1600">
                <a:solidFill>
                  <a:srgbClr val="283B6E"/>
                </a:solidFill>
                <a:latin typeface="Arial" charset="0"/>
                <a:ea typeface="ＭＳ Ｐゴシック" charset="0"/>
              </a:defRPr>
            </a:lvl2pPr>
            <a:lvl3pPr>
              <a:defRPr sz="1400">
                <a:solidFill>
                  <a:srgbClr val="283B6E"/>
                </a:solidFill>
                <a:latin typeface="Arial" charset="0"/>
                <a:ea typeface="ＭＳ Ｐゴシック" charset="0"/>
              </a:defRPr>
            </a:lvl3pPr>
            <a:lvl4pPr>
              <a:defRPr sz="1200">
                <a:solidFill>
                  <a:srgbClr val="283B6E"/>
                </a:solidFill>
                <a:latin typeface="Arial" charset="0"/>
                <a:ea typeface="ＭＳ Ｐゴシック" charset="0"/>
              </a:defRPr>
            </a:lvl4pPr>
            <a:lvl5pPr>
              <a:defRPr sz="1200">
                <a:solidFill>
                  <a:srgbClr val="283B6E"/>
                </a:solidFill>
                <a:latin typeface="Arial" charset="0"/>
                <a:ea typeface="ＭＳ Ｐゴシック" charset="0"/>
              </a:defRPr>
            </a:lvl5pPr>
            <a:lvl6pPr eaLnBrk="0" hangingPunct="0">
              <a:defRPr sz="1200">
                <a:solidFill>
                  <a:srgbClr val="283B6E"/>
                </a:solidFill>
                <a:latin typeface="Arial" charset="0"/>
                <a:ea typeface="ＭＳ Ｐゴシック" charset="0"/>
              </a:defRPr>
            </a:lvl6pPr>
            <a:lvl7pPr eaLnBrk="0" hangingPunct="0">
              <a:defRPr sz="1200">
                <a:solidFill>
                  <a:srgbClr val="283B6E"/>
                </a:solidFill>
                <a:latin typeface="Arial" charset="0"/>
                <a:ea typeface="ＭＳ Ｐゴシック" charset="0"/>
              </a:defRPr>
            </a:lvl7pPr>
            <a:lvl8pPr eaLnBrk="0" hangingPunct="0">
              <a:defRPr sz="1200">
                <a:solidFill>
                  <a:srgbClr val="283B6E"/>
                </a:solidFill>
                <a:latin typeface="Arial" charset="0"/>
                <a:ea typeface="ＭＳ Ｐゴシック" charset="0"/>
              </a:defRPr>
            </a:lvl8pPr>
            <a:lvl9pPr eaLnBrk="0" hangingPunct="0">
              <a:defRPr sz="1200">
                <a:solidFill>
                  <a:srgbClr val="283B6E"/>
                </a:solidFill>
                <a:latin typeface="Arial" charset="0"/>
                <a:ea typeface="ＭＳ Ｐゴシック" charset="0"/>
              </a:defRPr>
            </a:lvl9pPr>
          </a:lstStyle>
          <a:p>
            <a:pPr algn="r" eaLnBrk="1" hangingPunct="1"/>
            <a:fld id="{C6D701C5-A910-6049-96C7-F0B157DE211A}" type="slidenum">
              <a:rPr lang="en-US" sz="900">
                <a:solidFill>
                  <a:srgbClr val="618DD1"/>
                </a:solidFill>
              </a:rPr>
              <a:pPr algn="r" eaLnBrk="1" hangingPunct="1"/>
              <a:t>21</a:t>
            </a:fld>
            <a:endParaRPr lang="en-US" sz="900" dirty="0">
              <a:solidFill>
                <a:srgbClr val="618DD1"/>
              </a:solidFill>
            </a:endParaRPr>
          </a:p>
        </p:txBody>
      </p:sp>
      <p:sp>
        <p:nvSpPr>
          <p:cNvPr id="64515" name="Rectangle 2"/>
          <p:cNvSpPr>
            <a:spLocks noGrp="1" noChangeArrowheads="1"/>
          </p:cNvSpPr>
          <p:nvPr>
            <p:ph type="title"/>
          </p:nvPr>
        </p:nvSpPr>
        <p:spPr>
          <a:xfrm>
            <a:off x="1031967" y="455024"/>
            <a:ext cx="7909560" cy="587829"/>
          </a:xfrm>
          <a:prstGeom prst="rect">
            <a:avLst/>
          </a:prstGeom>
        </p:spPr>
        <p:txBody>
          <a:bodyPr>
            <a:noAutofit/>
          </a:bodyPr>
          <a:lstStyle/>
          <a:p>
            <a:pPr eaLnBrk="1" hangingPunct="1"/>
            <a:r>
              <a:rPr lang="en-US" sz="6000" b="1" dirty="0"/>
              <a:t>Summary</a:t>
            </a:r>
          </a:p>
        </p:txBody>
      </p:sp>
      <p:sp>
        <p:nvSpPr>
          <p:cNvPr id="64516" name="Rectangle 3"/>
          <p:cNvSpPr>
            <a:spLocks noGrp="1" noChangeArrowheads="1"/>
          </p:cNvSpPr>
          <p:nvPr>
            <p:ph idx="1"/>
          </p:nvPr>
        </p:nvSpPr>
        <p:spPr>
          <a:xfrm>
            <a:off x="1623152" y="1526176"/>
            <a:ext cx="7909560" cy="4439196"/>
          </a:xfrm>
          <a:prstGeom prst="rect">
            <a:avLst/>
          </a:prstGeom>
        </p:spPr>
        <p:txBody>
          <a:bodyPr>
            <a:normAutofit fontScale="25000" lnSpcReduction="20000"/>
          </a:bodyPr>
          <a:lstStyle/>
          <a:p>
            <a:pPr eaLnBrk="1" hangingPunct="1">
              <a:lnSpc>
                <a:spcPct val="80000"/>
              </a:lnSpc>
            </a:pPr>
            <a:r>
              <a:rPr lang="en-US" sz="14400" dirty="0">
                <a:latin typeface="+mj-lt"/>
              </a:rPr>
              <a:t>We have reviewed:</a:t>
            </a:r>
          </a:p>
          <a:p>
            <a:pPr marL="742950" lvl="1" indent="-285750">
              <a:lnSpc>
                <a:spcPct val="80000"/>
              </a:lnSpc>
            </a:pPr>
            <a:r>
              <a:rPr lang="en-US" sz="14400" dirty="0">
                <a:latin typeface="+mj-lt"/>
              </a:rPr>
              <a:t>Our history</a:t>
            </a:r>
          </a:p>
          <a:p>
            <a:pPr marL="742950" lvl="1" indent="-285750">
              <a:lnSpc>
                <a:spcPct val="80000"/>
              </a:lnSpc>
            </a:pPr>
            <a:r>
              <a:rPr lang="en-US" sz="14400" dirty="0">
                <a:latin typeface="+mj-lt"/>
              </a:rPr>
              <a:t>Vision and mission statements</a:t>
            </a:r>
          </a:p>
          <a:p>
            <a:pPr marL="742950" lvl="1" indent="-285750">
              <a:lnSpc>
                <a:spcPct val="80000"/>
              </a:lnSpc>
            </a:pPr>
            <a:r>
              <a:rPr lang="en-US" sz="14400" dirty="0">
                <a:latin typeface="+mj-lt"/>
              </a:rPr>
              <a:t>Organizational structure</a:t>
            </a:r>
          </a:p>
          <a:p>
            <a:pPr marL="742950" lvl="1" indent="-285750">
              <a:lnSpc>
                <a:spcPct val="80000"/>
              </a:lnSpc>
            </a:pPr>
            <a:r>
              <a:rPr lang="en-US" sz="14400" dirty="0">
                <a:latin typeface="+mj-lt"/>
              </a:rPr>
              <a:t>Company guiding principles</a:t>
            </a:r>
          </a:p>
          <a:p>
            <a:pPr marL="742950" lvl="1" indent="-285750">
              <a:lnSpc>
                <a:spcPct val="80000"/>
              </a:lnSpc>
            </a:pPr>
            <a:r>
              <a:rPr lang="en-US" sz="14400" dirty="0">
                <a:latin typeface="+mj-lt"/>
              </a:rPr>
              <a:t>Code of ethics</a:t>
            </a:r>
          </a:p>
          <a:p>
            <a:pPr marL="742950" lvl="1" indent="-285750">
              <a:lnSpc>
                <a:spcPct val="80000"/>
              </a:lnSpc>
            </a:pPr>
            <a:r>
              <a:rPr lang="en-US" sz="14400" dirty="0">
                <a:latin typeface="+mj-lt"/>
              </a:rPr>
              <a:t>Benefits information</a:t>
            </a:r>
          </a:p>
          <a:p>
            <a:pPr marL="742950" lvl="1" indent="-285750">
              <a:lnSpc>
                <a:spcPct val="80000"/>
              </a:lnSpc>
            </a:pPr>
            <a:r>
              <a:rPr lang="en-US" sz="14400" dirty="0">
                <a:latin typeface="+mj-lt"/>
              </a:rPr>
              <a:t>Payroll information</a:t>
            </a:r>
          </a:p>
          <a:p>
            <a:pPr marL="742950" lvl="1" indent="-285750">
              <a:lnSpc>
                <a:spcPct val="80000"/>
              </a:lnSpc>
            </a:pPr>
            <a:r>
              <a:rPr lang="en-US" sz="14400" dirty="0">
                <a:latin typeface="+mj-lt"/>
              </a:rPr>
              <a:t>Policies and procedure</a:t>
            </a:r>
          </a:p>
          <a:p>
            <a:pPr marL="742950" lvl="1" indent="-285750">
              <a:lnSpc>
                <a:spcPct val="80000"/>
              </a:lnSpc>
            </a:pPr>
            <a:r>
              <a:rPr lang="en-US" sz="14400" dirty="0">
                <a:latin typeface="+mj-lt"/>
              </a:rPr>
              <a:t>Information technology services</a:t>
            </a:r>
          </a:p>
          <a:p>
            <a:pPr marL="742950" lvl="1" indent="-285750">
              <a:lnSpc>
                <a:spcPct val="80000"/>
              </a:lnSpc>
            </a:pPr>
            <a:r>
              <a:rPr lang="en-US" sz="14400" dirty="0">
                <a:latin typeface="+mj-lt"/>
              </a:rPr>
              <a:t>New Hire paperwork</a:t>
            </a:r>
          </a:p>
          <a:p>
            <a:pPr eaLnBrk="1" hangingPunct="1">
              <a:lnSpc>
                <a:spcPct val="80000"/>
              </a:lnSpc>
            </a:pPr>
            <a:endParaRPr lang="en-US" sz="9600" dirty="0">
              <a:latin typeface="+mj-lt"/>
            </a:endParaRPr>
          </a:p>
          <a:p>
            <a:pPr eaLnBrk="1" hangingPunct="1">
              <a:lnSpc>
                <a:spcPct val="80000"/>
              </a:lnSpc>
            </a:pPr>
            <a:endParaRPr lang="en-US" sz="9600" dirty="0">
              <a:latin typeface="+mj-lt"/>
            </a:endParaRPr>
          </a:p>
          <a:p>
            <a:pPr eaLnBrk="1" hangingPunct="1">
              <a:lnSpc>
                <a:spcPct val="80000"/>
              </a:lnSpc>
              <a:buFontTx/>
              <a:buNone/>
            </a:pPr>
            <a:endParaRPr lang="en-US" sz="1600" dirty="0">
              <a:latin typeface="Arial" charset="0"/>
            </a:endParaRPr>
          </a:p>
          <a:p>
            <a:pPr eaLnBrk="1" hangingPunct="1">
              <a:lnSpc>
                <a:spcPct val="80000"/>
              </a:lnSpc>
              <a:buFontTx/>
              <a:buNone/>
            </a:pPr>
            <a:r>
              <a:rPr lang="en-US" sz="1600" dirty="0">
                <a:latin typeface="Arial" charset="0"/>
              </a:rPr>
              <a:t>			</a:t>
            </a:r>
          </a:p>
          <a:p>
            <a:pPr eaLnBrk="1" hangingPunct="1">
              <a:lnSpc>
                <a:spcPct val="80000"/>
              </a:lnSpc>
            </a:pPr>
            <a:endParaRPr lang="en-US" sz="1600" dirty="0">
              <a:latin typeface="Arial"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22</a:t>
            </a:fld>
            <a:endParaRPr lang="en-US" dirty="0">
              <a:solidFill>
                <a:srgbClr val="618DD1"/>
              </a:solidFill>
            </a:endParaRPr>
          </a:p>
        </p:txBody>
      </p:sp>
      <p:sp>
        <p:nvSpPr>
          <p:cNvPr id="4" name="Rectangle 2">
            <a:extLst>
              <a:ext uri="{FF2B5EF4-FFF2-40B4-BE49-F238E27FC236}">
                <a16:creationId xmlns:a16="http://schemas.microsoft.com/office/drawing/2014/main" id="{EB55C4C0-0B8B-04E8-DB4F-A66CBEB4E8F1}"/>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42728048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575</Words>
  <Application>Microsoft Office PowerPoint</Application>
  <PresentationFormat>Widescreen</PresentationFormat>
  <Paragraphs>112</Paragraphs>
  <Slides>22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PowerPoint Presentation</vt:lpstr>
      <vt:lpstr>Welcome Onboard!!</vt:lpstr>
      <vt:lpstr>Agenda</vt:lpstr>
      <vt:lpstr>BLOOM Bookkeepers History</vt:lpstr>
      <vt:lpstr>Questions?    Comments?</vt:lpstr>
      <vt:lpstr>Vision Statement</vt:lpstr>
      <vt:lpstr>Mission Statement</vt:lpstr>
      <vt:lpstr>PowerPoint Presentation</vt:lpstr>
      <vt:lpstr>Company Guiding Principles</vt:lpstr>
      <vt:lpstr>Questions?    Comments?</vt:lpstr>
      <vt:lpstr>Benefits</vt:lpstr>
      <vt:lpstr>Benefits (cont.)</vt:lpstr>
      <vt:lpstr>Benefits (cont.)</vt:lpstr>
      <vt:lpstr>Questions?    Comments?</vt:lpstr>
      <vt:lpstr>Payroll</vt:lpstr>
      <vt:lpstr>Questions?    Comments?</vt:lpstr>
      <vt:lpstr>Information Technology Services</vt:lpstr>
      <vt:lpstr>Questions?    Comments?</vt:lpstr>
      <vt:lpstr>New-Hire Paperwork</vt:lpstr>
      <vt:lpstr>Questions?    Comments?</vt:lpstr>
      <vt:lpstr>Summary</vt:lpstr>
      <vt:lpstr>Questions?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Isack Marom</dc:creator>
  <cp:lastModifiedBy>Isack Marom</cp:lastModifiedBy>
  <cp:revision>10</cp:revision>
  <dcterms:created xsi:type="dcterms:W3CDTF">2023-08-14T14:15:37Z</dcterms:created>
  <dcterms:modified xsi:type="dcterms:W3CDTF">2023-08-14T21:04:30Z</dcterms:modified>
</cp:coreProperties>
</file>