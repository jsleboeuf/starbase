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145706045" r:id="rId6"/>
    <p:sldId id="2145706046" r:id="rId7"/>
    <p:sldId id="2145706047" r:id="rId8"/>
    <p:sldId id="2145706048" r:id="rId9"/>
    <p:sldId id="2145706049" r:id="rId10"/>
    <p:sldId id="2145706050" r:id="rId11"/>
    <p:sldId id="2145706051" r:id="rId12"/>
    <p:sldId id="2145706052" r:id="rId13"/>
    <p:sldId id="2145706053" r:id="rId14"/>
    <p:sldId id="2145706054" r:id="rId15"/>
    <p:sldId id="2145706055" r:id="rId16"/>
    <p:sldId id="2145706056" r:id="rId17"/>
    <p:sldId id="2145706057" r:id="rId18"/>
    <p:sldId id="2145706058" r:id="rId19"/>
    <p:sldId id="2145706059" r:id="rId20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14067"/>
    <a:srgbClr val="3F3F3F"/>
    <a:srgbClr val="014E7D"/>
    <a:srgbClr val="013657"/>
    <a:srgbClr val="01456F"/>
    <a:srgbClr val="014B79"/>
    <a:srgbClr val="0937C9"/>
    <a:srgbClr val="002774"/>
    <a:srgbClr val="929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598" autoAdjust="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5DCE85-0A13-48F4-A9C0-551BADFB2145}" type="datetime1">
              <a:rPr lang="fr-FR" smtClean="0"/>
              <a:t>23/01/2023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1072A3-100F-40A9-915F-8D2D9E6962D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EABE6-E8A2-4369-B5DD-8970D70F6DA0}" type="datetime1">
              <a:rPr lang="fr-FR" smtClean="0"/>
              <a:pPr/>
              <a:t>23/01/2023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230CFA-805A-4FD3-B3A0-DAAA5993DA17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1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037205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83279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18524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4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37103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5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95264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977194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7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41409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8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37729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9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83036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10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218392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11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82336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12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510571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13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1634469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14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41648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15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812554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DOCUMENT CONFIDENTIEL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230CFA-805A-4FD3-B3A0-DAAA5993DA17}" type="slidenum">
              <a:rPr lang="fr-FR" noProof="0" smtClean="0"/>
              <a:t>16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944920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le rectangle 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’image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 title="Titr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le style du titre du masque</a:t>
            </a:r>
          </a:p>
        </p:txBody>
      </p:sp>
      <p:sp>
        <p:nvSpPr>
          <p:cNvPr id="3" name="Sous-titre 2" title="Sous-titr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dirty="0"/>
              <a:t>CLIQUEZ POUR MODIFIER LE SOUS-TITRE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iangle droit 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7" name="Parallélogramme 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re 1" title="Titr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fr-FR" noProof="0" dirty="0"/>
              <a:t>Cliquez pour modifier le style du titre du masque</a:t>
            </a:r>
          </a:p>
        </p:txBody>
      </p:sp>
      <p:sp>
        <p:nvSpPr>
          <p:cNvPr id="101" name="Espace réservé du texte 2" title="Sous-titr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élogramme 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noProof="0" dirty="0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space réservé d’image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élogramme 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DU TEXTE 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 title="Puce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24" name="Triangle rectangle 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5" name="Parallélogramme 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noProof="0" dirty="0"/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texte 4" title="Sous-titr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3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fr-FR" noProof="0" dirty="0"/>
              <a:t>CLIQUEZ POUR LE STYLE DE SOUS-TITRE</a:t>
            </a:r>
          </a:p>
        </p:txBody>
      </p:sp>
      <p:sp>
        <p:nvSpPr>
          <p:cNvPr id="2" name="Titre 1" title="Titre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</a:t>
            </a:r>
            <a:br>
              <a:rPr lang="fr-FR" noProof="0" dirty="0"/>
            </a:br>
            <a:r>
              <a:rPr lang="fr-FR" noProof="0" dirty="0"/>
              <a:t>Le style du titre du masque </a:t>
            </a:r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du text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riangle rectangle 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8" name="Espace réservé d’image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365760" rtlCol="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3" name="Espace réservé du contenu 2" title="Puce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25" name="Parallélogramme 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noProof="0" dirty="0"/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texte 4" title="Sous-titr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2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fr-FR" noProof="0" dirty="0"/>
              <a:t>CLIQUEZ POUR LE STYLE DE SOUS-TITRE</a:t>
            </a:r>
          </a:p>
        </p:txBody>
      </p:sp>
      <p:sp>
        <p:nvSpPr>
          <p:cNvPr id="17" name="Zone de texte 16">
            <a:extLst>
              <a:ext uri="{FF2B5EF4-FFF2-40B4-BE49-F238E27FC236}">
                <a16:creationId xmlns:a16="http://schemas.microsoft.com/office/drawing/2014/main" id="{3EB154C1-CE47-4220-9832-4FD0868A64A8}"/>
              </a:ext>
            </a:extLst>
          </p:cNvPr>
          <p:cNvSpPr txBox="1"/>
          <p:nvPr userDrawn="1"/>
        </p:nvSpPr>
        <p:spPr>
          <a:xfrm>
            <a:off x="11073384" y="237744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19" name="Titre 1" title="Titre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</a:t>
            </a:r>
            <a:br>
              <a:rPr lang="fr-FR" noProof="0" dirty="0"/>
            </a:br>
            <a:r>
              <a:rPr lang="fr-FR" noProof="0" dirty="0"/>
              <a:t>Le style du titre du masque 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Bande diagonal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élogramme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</p:grp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18" name="Espace réservé du contenu 3" title="Puce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fr-FR" noProof="0"/>
              <a:t>Cliquez pour modifier les styles du texte du masque</a:t>
            </a:r>
          </a:p>
          <a:p>
            <a:pPr lvl="1" rtl="0">
              <a:buClr>
                <a:schemeClr val="accent2"/>
              </a:buClr>
            </a:pPr>
            <a:r>
              <a:rPr lang="fr-FR" noProof="0"/>
              <a:t>Deuxième niveau</a:t>
            </a:r>
          </a:p>
          <a:p>
            <a:pPr lvl="2" rtl="0">
              <a:buClr>
                <a:schemeClr val="accent2"/>
              </a:buClr>
            </a:pPr>
            <a:r>
              <a:rPr lang="fr-FR" noProof="0"/>
              <a:t>Troisième niveau</a:t>
            </a:r>
          </a:p>
          <a:p>
            <a:pPr lvl="3" rtl="0">
              <a:buClr>
                <a:schemeClr val="accent2"/>
              </a:buClr>
            </a:pPr>
            <a:r>
              <a:rPr lang="fr-FR" noProof="0"/>
              <a:t>Quatrième niveau</a:t>
            </a:r>
          </a:p>
          <a:p>
            <a:pPr lvl="4" rtl="0">
              <a:buClr>
                <a:schemeClr val="accent2"/>
              </a:buClr>
            </a:pPr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20" name="Espace réservé du contenu 5" title="Puce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fr-FR" noProof="0"/>
              <a:t>Cliquez pour modifier les styles du texte du masque</a:t>
            </a:r>
          </a:p>
          <a:p>
            <a:pPr lvl="1" rtl="0">
              <a:buClr>
                <a:schemeClr val="accent2"/>
              </a:buClr>
            </a:pPr>
            <a:r>
              <a:rPr lang="fr-FR" noProof="0"/>
              <a:t>Deuxième niveau</a:t>
            </a:r>
          </a:p>
          <a:p>
            <a:pPr lvl="2" rtl="0">
              <a:buClr>
                <a:schemeClr val="accent2"/>
              </a:buClr>
            </a:pPr>
            <a:r>
              <a:rPr lang="fr-FR" noProof="0"/>
              <a:t>Troisième niveau</a:t>
            </a:r>
          </a:p>
          <a:p>
            <a:pPr lvl="3" rtl="0">
              <a:buClr>
                <a:schemeClr val="accent2"/>
              </a:buClr>
            </a:pPr>
            <a:r>
              <a:rPr lang="fr-FR" noProof="0"/>
              <a:t>Quatrième niveau</a:t>
            </a:r>
          </a:p>
          <a:p>
            <a:pPr lvl="4" rtl="0">
              <a:buClr>
                <a:schemeClr val="accent2"/>
              </a:buClr>
            </a:pPr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24" name="Espace réservé du texte 4" title="Sous-titre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fr-FR" noProof="0" dirty="0"/>
              <a:t>CLIQUEZ POUR LE STYLE DE SOUS-TITRE</a:t>
            </a:r>
          </a:p>
        </p:txBody>
      </p:sp>
      <p:sp>
        <p:nvSpPr>
          <p:cNvPr id="25" name="Zone de texte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élogramme 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fr-FR" noProof="0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27" name="Titre 1" title="Titr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le style du titre du masque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 de texte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Bande diagonale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lélogramme 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</p:grpSp>
      <p:sp>
        <p:nvSpPr>
          <p:cNvPr id="33" name="Parallélogramme 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fr-FR" noProof="0" dirty="0"/>
          </a:p>
        </p:txBody>
      </p:sp>
      <p:sp>
        <p:nvSpPr>
          <p:cNvPr id="34" name="Espace réservé du texte 4" title="Sous-titre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fr-FR" noProof="0" dirty="0"/>
              <a:t>CLIQUEZ POUR LE STYLE DE SOUS-TITRE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7" name="Titre 1" title="Titre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le style du titre du masque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Ajoutez votre texte ici.</a:t>
            </a:r>
          </a:p>
        </p:txBody>
      </p:sp>
      <p:sp>
        <p:nvSpPr>
          <p:cNvPr id="20" name="Espace réservé au graphique 2" title="Graphique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 rtlCol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 rtl="0"/>
            <a:r>
              <a:rPr lang="fr-FR" noProof="0"/>
              <a:t>Cliquez sur l'icône pour ajouter un graphique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au tableau 11" title="Tableau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 rtlCol="0">
            <a:noAutofit/>
          </a:bodyPr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Cliquez sur l'icône pour ajouter un tableau</a:t>
            </a:r>
            <a:endParaRPr lang="fr-FR" noProof="0" dirty="0"/>
          </a:p>
        </p:txBody>
      </p:sp>
      <p:sp>
        <p:nvSpPr>
          <p:cNvPr id="16" name="Zone de texte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Bande diagonale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lélogramme 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</p:grpSp>
      <p:sp>
        <p:nvSpPr>
          <p:cNvPr id="36" name="Parallélogramme 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noProof="0" dirty="0"/>
          </a:p>
        </p:txBody>
      </p:sp>
      <p:sp>
        <p:nvSpPr>
          <p:cNvPr id="37" name="Espace réservé du texte 4" title="Sous-titre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fr-FR" noProof="0" dirty="0"/>
              <a:t>CLIQUEZ POUR LE STYLE DE SOUS-TITRE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7" name="Titre 1" title="Titre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le style du titre du masque </a:t>
            </a:r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rectangle 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5" name="Espace réservé d’image 31" title="Image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 et placez l’image ici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re 1" title="Titre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rtlCol="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 dirty="0"/>
              <a:t>Ajoutez la légende ici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fr-FR" noProof="0" dirty="0"/>
              <a:t>Nom</a:t>
            </a: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fr-FR" noProof="0" dirty="0"/>
              <a:t>Numéro de téléphone</a:t>
            </a:r>
          </a:p>
        </p:txBody>
      </p:sp>
      <p:sp>
        <p:nvSpPr>
          <p:cNvPr id="11" name="Espace réservé du texte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fr-FR" noProof="0" dirty="0"/>
              <a:t>E-mail </a:t>
            </a:r>
          </a:p>
        </p:txBody>
      </p:sp>
      <p:sp>
        <p:nvSpPr>
          <p:cNvPr id="13" name="Espace réservé du texte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fr-FR" noProof="0" dirty="0"/>
              <a:t>Site web de l’entreprise</a:t>
            </a:r>
          </a:p>
        </p:txBody>
      </p:sp>
      <p:sp>
        <p:nvSpPr>
          <p:cNvPr id="14" name="Forme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fr-FR" noProof="0" dirty="0"/>
          </a:p>
        </p:txBody>
      </p:sp>
      <p:sp>
        <p:nvSpPr>
          <p:cNvPr id="15" name="Forme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fr-FR" noProof="0" dirty="0"/>
          </a:p>
        </p:txBody>
      </p:sp>
      <p:sp>
        <p:nvSpPr>
          <p:cNvPr id="19" name="Forme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fr-FR" noProof="0" dirty="0"/>
          </a:p>
        </p:txBody>
      </p:sp>
      <p:sp>
        <p:nvSpPr>
          <p:cNvPr id="20" name="Forme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fr-FR" noProof="0" dirty="0"/>
          </a:p>
        </p:txBody>
      </p:sp>
      <p:sp>
        <p:nvSpPr>
          <p:cNvPr id="21" name="Triangle droit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space réservé d’image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2" name="Titre 1" title="Titr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le style du titre du masque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le rectangle 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 title="Titr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le style du titre du masque</a:t>
            </a:r>
          </a:p>
        </p:txBody>
      </p:sp>
      <p:sp>
        <p:nvSpPr>
          <p:cNvPr id="3" name="Sous-titre 2" title="Sous-titr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dirty="0"/>
              <a:t>CLIQUEZ POUR MODIFIER POUR LE STYLE DE SOUS-TITRE DU MASQUE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561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iangle droit 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7" name="Parallélogramme 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re 1" title="Titr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fr-FR" noProof="0" dirty="0"/>
              <a:t>Cliquez pour modifier le style du titre du masque</a:t>
            </a:r>
          </a:p>
        </p:txBody>
      </p:sp>
      <p:sp>
        <p:nvSpPr>
          <p:cNvPr id="101" name="Espace réservé du texte 2" title="Sous-titr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élogramme 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noProof="0" dirty="0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élogramme 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00786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Bande diagonal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élogramme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</p:grpSp>
      <p:sp>
        <p:nvSpPr>
          <p:cNvPr id="25" name="Zone de texte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élogramme 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fr-FR" noProof="0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27" name="Titre 1" title="Titr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le style du titre du masque </a:t>
            </a:r>
          </a:p>
        </p:txBody>
      </p:sp>
      <p:sp>
        <p:nvSpPr>
          <p:cNvPr id="29" name="Espace réservé du contenu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543430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Bande diagonal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élogramme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</p:grpSp>
      <p:sp>
        <p:nvSpPr>
          <p:cNvPr id="25" name="Zone de texte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élogramme 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fr-FR" noProof="0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27" name="Titre 1" title="Titr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le style du titre du masque 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84813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Bande diagonal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élogramme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</p:grpSp>
      <p:sp>
        <p:nvSpPr>
          <p:cNvPr id="25" name="Zone de texte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élogramme 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fr-FR" noProof="0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27" name="Titre 1" title="Titr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le style du titre du masque 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n-US" b="1" dirty="0">
                <a:solidFill>
                  <a:schemeClr val="accent6"/>
                </a:solidFill>
              </a:defRPr>
            </a:lvl1pPr>
          </a:lstStyle>
          <a:p>
            <a:pPr marL="228600" lvl="0" indent="-22860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21" name="Espace réservé du contenu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24" name="Espace réservé du contenu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452267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le rectangle 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 title="Titr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le style du titre du masque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 sz="24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55265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le rectangle 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 title="Titr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le style du titre du masque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12" name="Espace réservé d’image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14302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Zone de texte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Bande diagonale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lélogramme 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</p:grpSp>
      <p:sp>
        <p:nvSpPr>
          <p:cNvPr id="30" name="Parallélogramme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fr-FR" noProof="0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 de texte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Bande de diagonal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élogramme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</p:grpSp>
      <p:sp>
        <p:nvSpPr>
          <p:cNvPr id="31" name="Parallélogramme 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fr-FR" noProof="0" dirty="0"/>
          </a:p>
        </p:txBody>
      </p:sp>
      <p:sp>
        <p:nvSpPr>
          <p:cNvPr id="33" name="Titre 1" title="Titre ">
            <a:extLst>
              <a:ext uri="{FF2B5EF4-FFF2-40B4-BE49-F238E27FC236}">
                <a16:creationId xmlns:a16="http://schemas.microsoft.com/office/drawing/2014/main" id="{59067A2C-FE71-4381-BE51-08DAC5E43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Cliquez pour modifier le style du titre du masque 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5CE2EB-00DF-4EBA-BF1F-D37805D4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B8678CD3-9728-B24C-B7BB-021DD32F8B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2369" y="1597306"/>
            <a:ext cx="10360469" cy="4450788"/>
          </a:xfrm>
        </p:spPr>
        <p:txBody>
          <a:bodyPr lIns="0" tIns="0">
            <a:noAutofit/>
          </a:bodyPr>
          <a:lstStyle>
            <a:lvl1pPr marL="9525" indent="-9525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 lang="en-US" sz="2000" kern="1200" dirty="0" smtClean="0">
                <a:solidFill>
                  <a:srgbClr val="323E48"/>
                </a:solidFill>
                <a:latin typeface="+mj-lt"/>
                <a:ea typeface="+mn-ea"/>
                <a:cs typeface="Calibri Light" panose="020F0302020204030204" pitchFamily="34" charset="0"/>
              </a:defRPr>
            </a:lvl1pPr>
            <a:lvl2pPr marL="182563" indent="-182563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323E48"/>
              </a:buClr>
              <a:buSzPct val="85000"/>
              <a:buFont typeface="Wingdings" pitchFamily="2" charset="2"/>
              <a:buChar char="§"/>
              <a:tabLst/>
              <a:defRPr lang="en-US" sz="2000" kern="1200" dirty="0" smtClean="0">
                <a:solidFill>
                  <a:srgbClr val="323E48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358775" indent="-176213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323E48"/>
              </a:buClr>
              <a:buSzPct val="85000"/>
              <a:buFont typeface="Wingdings" pitchFamily="2" charset="2"/>
              <a:buChar char="§"/>
              <a:tabLst/>
              <a:defRPr lang="en-US" sz="2000" kern="1200" dirty="0" smtClean="0">
                <a:solidFill>
                  <a:srgbClr val="323E48"/>
                </a:solidFill>
                <a:latin typeface="+mj-lt"/>
                <a:ea typeface="+mn-ea"/>
                <a:cs typeface="Calibri Light" panose="020F0302020204030204" pitchFamily="34" charset="0"/>
              </a:defRPr>
            </a:lvl3pPr>
            <a:lvl4pPr marL="536575" indent="-1778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323E48"/>
              </a:buClr>
              <a:buSzPct val="85000"/>
              <a:buFont typeface="Wingdings" pitchFamily="2" charset="2"/>
              <a:buChar char="§"/>
              <a:tabLst/>
              <a:defRPr lang="en-US" sz="2000" kern="1200" dirty="0" smtClean="0">
                <a:solidFill>
                  <a:srgbClr val="323E48"/>
                </a:solidFill>
                <a:latin typeface="+mj-lt"/>
                <a:ea typeface="+mn-ea"/>
                <a:cs typeface="Calibri Light" panose="020F0302020204030204" pitchFamily="34" charset="0"/>
              </a:defRPr>
            </a:lvl4pPr>
            <a:lvl5pPr>
              <a:defRPr lang="en-US" sz="1400" kern="1200" dirty="0">
                <a:solidFill>
                  <a:srgbClr val="323E48"/>
                </a:solidFill>
                <a:latin typeface="+mj-lt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itle 11">
            <a:extLst>
              <a:ext uri="{FF2B5EF4-FFF2-40B4-BE49-F238E27FC236}">
                <a16:creationId xmlns:a16="http://schemas.microsoft.com/office/drawing/2014/main" id="{BA0E3902-9905-EF40-8911-19DFE92AD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2371" y="809906"/>
            <a:ext cx="10360469" cy="439577"/>
          </a:xfrm>
        </p:spPr>
        <p:txBody>
          <a:bodyPr lIns="0" tIns="0" anchor="ctr">
            <a:noAutofit/>
          </a:bodyPr>
          <a:lstStyle>
            <a:lvl1pPr>
              <a:defRPr lang="en-US" sz="3200" kern="1200" dirty="0">
                <a:solidFill>
                  <a:srgbClr val="323E48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7D169C-F088-F74C-A39E-559B09E61D5E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9AC6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448A76-2796-41ED-AEDA-8FA0500D04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2373" y="6496212"/>
            <a:ext cx="1482330" cy="271572"/>
          </a:xfrm>
          <a:prstGeom prst="rect">
            <a:avLst/>
          </a:prstGeom>
        </p:spPr>
      </p:pic>
      <p:pic>
        <p:nvPicPr>
          <p:cNvPr id="12" name="Picture 2" descr="Workforce Scheduling Software Built for the Enterprise">
            <a:extLst>
              <a:ext uri="{FF2B5EF4-FFF2-40B4-BE49-F238E27FC236}">
                <a16:creationId xmlns:a16="http://schemas.microsoft.com/office/drawing/2014/main" id="{B8CAF733-5799-4928-BB6A-89576D41C4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1" y="6340875"/>
            <a:ext cx="1100222" cy="426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2091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1E43EA-7A86-BE43-B75F-86E0D288BF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1">
            <a:extLst>
              <a:ext uri="{FF2B5EF4-FFF2-40B4-BE49-F238E27FC236}">
                <a16:creationId xmlns:a16="http://schemas.microsoft.com/office/drawing/2014/main" id="{567DD4A2-7444-CE48-A31F-AAEEA7A97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12" y="3405983"/>
            <a:ext cx="8009173" cy="662400"/>
          </a:xfrm>
        </p:spPr>
        <p:txBody>
          <a:bodyPr lIns="0">
            <a:noAutofit/>
          </a:bodyPr>
          <a:lstStyle>
            <a:lvl1pPr>
              <a:defRPr lang="en-US" sz="2700" kern="1200" spc="300" dirty="0">
                <a:solidFill>
                  <a:srgbClr val="655D5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61CECC-EABB-8C4E-8945-7E6B239D98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1077" y="1988696"/>
            <a:ext cx="4409606" cy="807868"/>
          </a:xfrm>
          <a:prstGeom prst="rect">
            <a:avLst/>
          </a:prstGeom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9D623C2-ED5D-214A-8722-6FF213F1DD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288" y="4068383"/>
            <a:ext cx="5259388" cy="662400"/>
          </a:xfrm>
        </p:spPr>
        <p:txBody>
          <a:bodyPr lIns="0" anchor="ctr">
            <a:noAutofit/>
          </a:bodyPr>
          <a:lstStyle>
            <a:lvl1pPr>
              <a:buNone/>
              <a:defRPr lang="en-US" sz="2000" kern="1200" spc="300" dirty="0" smtClean="0">
                <a:solidFill>
                  <a:srgbClr val="655D5F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lang="en-US" sz="2000" kern="1200" spc="300" dirty="0" smtClean="0">
                <a:solidFill>
                  <a:srgbClr val="655D5F"/>
                </a:solidFill>
                <a:latin typeface="+mj-lt"/>
                <a:ea typeface="+mj-ea"/>
                <a:cs typeface="+mj-cs"/>
              </a:defRPr>
            </a:lvl2pPr>
            <a:lvl3pPr>
              <a:buNone/>
              <a:defRPr lang="en-US" sz="2000" kern="1200" spc="300" dirty="0" smtClean="0">
                <a:solidFill>
                  <a:srgbClr val="655D5F"/>
                </a:solidFill>
                <a:latin typeface="+mj-lt"/>
                <a:ea typeface="+mj-ea"/>
                <a:cs typeface="+mj-cs"/>
              </a:defRPr>
            </a:lvl3pPr>
            <a:lvl4pPr>
              <a:buNone/>
              <a:defRPr lang="en-US" sz="2000" kern="1200" spc="300" dirty="0" smtClean="0">
                <a:solidFill>
                  <a:srgbClr val="655D5F"/>
                </a:solidFill>
                <a:latin typeface="+mj-lt"/>
                <a:ea typeface="+mj-ea"/>
                <a:cs typeface="+mj-cs"/>
              </a:defRPr>
            </a:lvl4pPr>
            <a:lvl5pPr>
              <a:buNone/>
              <a:defRPr lang="en-US" sz="2000" kern="1200" spc="300" dirty="0">
                <a:solidFill>
                  <a:srgbClr val="655D5F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date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F7AAA9-3716-FF44-821C-B6A6986D71C4}"/>
              </a:ext>
            </a:extLst>
          </p:cNvPr>
          <p:cNvCxnSpPr>
            <a:cxnSpLocks/>
          </p:cNvCxnSpPr>
          <p:nvPr userDrawn="1"/>
        </p:nvCxnSpPr>
        <p:spPr>
          <a:xfrm>
            <a:off x="1081076" y="4068775"/>
            <a:ext cx="5250036" cy="0"/>
          </a:xfrm>
          <a:prstGeom prst="line">
            <a:avLst/>
          </a:prstGeom>
          <a:ln w="19050">
            <a:solidFill>
              <a:srgbClr val="9AC6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3F077D1-35BE-504D-9167-48CA5CAD5C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1076" y="5445898"/>
            <a:ext cx="1944000" cy="48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769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 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 rtl="0"/>
            <a:fld id="{8699F50C-BE38-4BD0-BA84-9B090E1F2B9B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9" name="Espace réservé du titre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692" r:id="rId17"/>
    <p:sldLayoutId id="2147483697" r:id="rId18"/>
    <p:sldLayoutId id="2147483674" r:id="rId19"/>
    <p:sldLayoutId id="2147483717" r:id="rId20"/>
    <p:sldLayoutId id="214748371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D5FEAD-746D-8D4C-BE60-962D9CF4B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512" y="3386105"/>
            <a:ext cx="8009173" cy="662400"/>
          </a:xfrm>
        </p:spPr>
        <p:txBody>
          <a:bodyPr/>
          <a:lstStyle/>
          <a:p>
            <a:r>
              <a:rPr lang="en-US" dirty="0"/>
              <a:t>Plan </a:t>
            </a:r>
            <a:r>
              <a:rPr lang="en-US" dirty="0" err="1"/>
              <a:t>d’action</a:t>
            </a:r>
            <a:r>
              <a:rPr lang="en-US" dirty="0"/>
              <a:t> </a:t>
            </a:r>
            <a:r>
              <a:rPr lang="en-US" dirty="0" err="1"/>
              <a:t>Opération</a:t>
            </a:r>
            <a:r>
              <a:rPr lang="en-US" dirty="0"/>
              <a:t> Viva / </a:t>
            </a:r>
            <a:r>
              <a:rPr lang="en-US" dirty="0" err="1"/>
              <a:t>Dentarius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279B82-AE5E-3E46-9FDE-ADF5204A9E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3288" y="4088261"/>
            <a:ext cx="5259388" cy="662400"/>
          </a:xfrm>
        </p:spPr>
        <p:txBody>
          <a:bodyPr/>
          <a:lstStyle/>
          <a:p>
            <a:r>
              <a:rPr lang="en-US" dirty="0"/>
              <a:t>Janvier 2023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681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363944" y="1605914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176" y="261280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>
                <a:solidFill>
                  <a:schemeClr val="accent1"/>
                </a:solidFill>
                <a:latin typeface="+mj-lt"/>
                <a:cs typeface="+mj-cs"/>
              </a:rPr>
              <a:t>Plan d’intervention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422525-4396-5185-174A-2B2F0D220F01}"/>
              </a:ext>
            </a:extLst>
          </p:cNvPr>
          <p:cNvSpPr txBox="1"/>
          <p:nvPr/>
        </p:nvSpPr>
        <p:spPr>
          <a:xfrm>
            <a:off x="1026367" y="1940767"/>
            <a:ext cx="10058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A" sz="2800" dirty="0" err="1"/>
              <a:t>Workday</a:t>
            </a:r>
            <a:endParaRPr lang="fr-CA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CA" sz="2800" dirty="0"/>
              <a:t>Système de paie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CA" sz="2800" dirty="0"/>
              <a:t>Billets</a:t>
            </a:r>
          </a:p>
          <a:p>
            <a:pPr marL="514350" indent="-514350">
              <a:buFont typeface="+mj-lt"/>
              <a:buAutoNum type="arabicPeriod"/>
            </a:pPr>
            <a:r>
              <a:rPr lang="fr-CA" sz="2800" dirty="0"/>
              <a:t>Révision des systèmes de billets</a:t>
            </a:r>
          </a:p>
          <a:p>
            <a:pPr marL="514350" indent="-514350">
              <a:buFont typeface="+mj-lt"/>
              <a:buAutoNum type="arabicPeriod"/>
            </a:pPr>
            <a:r>
              <a:rPr lang="fr-CA" sz="2800" dirty="0"/>
              <a:t>Le Recrutement</a:t>
            </a:r>
          </a:p>
          <a:p>
            <a:pPr marL="514350" indent="-514350">
              <a:buFont typeface="+mj-lt"/>
              <a:buAutoNum type="arabicPeriod"/>
            </a:pPr>
            <a:r>
              <a:rPr lang="fr-CA" sz="2800" dirty="0"/>
              <a:t>Les RH</a:t>
            </a:r>
          </a:p>
          <a:p>
            <a:pPr marL="514350" indent="-514350">
              <a:buFont typeface="+mj-lt"/>
              <a:buAutoNum type="arabicPeriod"/>
            </a:pPr>
            <a:r>
              <a:rPr lang="fr-CA" sz="2800" dirty="0"/>
              <a:t>Directeur des opérations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79761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176" y="261280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>
                <a:solidFill>
                  <a:schemeClr val="accent1"/>
                </a:solidFill>
                <a:latin typeface="+mj-lt"/>
                <a:cs typeface="+mj-cs"/>
              </a:rPr>
              <a:t>1-Workday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225EE-8F24-280F-2794-367FC66EF68B}"/>
              </a:ext>
            </a:extLst>
          </p:cNvPr>
          <p:cNvSpPr txBox="1"/>
          <p:nvPr/>
        </p:nvSpPr>
        <p:spPr>
          <a:xfrm>
            <a:off x="922176" y="1728889"/>
            <a:ext cx="104611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u="sng" dirty="0"/>
              <a:t>Problématique</a:t>
            </a:r>
          </a:p>
          <a:p>
            <a:endParaRPr lang="fr-CA" dirty="0"/>
          </a:p>
          <a:p>
            <a:r>
              <a:rPr lang="fr-CA" dirty="0"/>
              <a:t>La confiance dans le </a:t>
            </a:r>
            <a:r>
              <a:rPr lang="fr-CA" dirty="0" err="1"/>
              <a:t>systè</a:t>
            </a:r>
            <a:r>
              <a:rPr lang="en-US" dirty="0"/>
              <a:t>me de </a:t>
            </a:r>
            <a:r>
              <a:rPr lang="en-US" dirty="0" err="1"/>
              <a:t>paie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0/20</a:t>
            </a:r>
          </a:p>
          <a:p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Trop </a:t>
            </a:r>
            <a:r>
              <a:rPr lang="en-US" dirty="0" err="1"/>
              <a:t>d’erreurs</a:t>
            </a:r>
            <a:r>
              <a:rPr lang="en-US" dirty="0"/>
              <a:t> et </a:t>
            </a:r>
            <a:r>
              <a:rPr lang="en-US" dirty="0" err="1"/>
              <a:t>d’ajustements</a:t>
            </a:r>
            <a:r>
              <a:rPr lang="en-US" dirty="0"/>
              <a:t> de </a:t>
            </a:r>
            <a:r>
              <a:rPr lang="en-US" dirty="0" err="1"/>
              <a:t>paiements</a:t>
            </a:r>
            <a:r>
              <a:rPr lang="en-US" dirty="0"/>
              <a:t> à faire sur les </a:t>
            </a:r>
            <a:r>
              <a:rPr lang="en-US" dirty="0" err="1"/>
              <a:t>paies</a:t>
            </a:r>
            <a:r>
              <a:rPr lang="en-US" dirty="0"/>
              <a:t> des </a:t>
            </a:r>
            <a:r>
              <a:rPr lang="en-US" dirty="0" err="1"/>
              <a:t>employés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Qu’elle</a:t>
            </a:r>
            <a:r>
              <a:rPr lang="en-US" dirty="0"/>
              <a:t> </a:t>
            </a:r>
            <a:r>
              <a:rPr lang="en-US" dirty="0" err="1"/>
              <a:t>mauvaise</a:t>
            </a:r>
            <a:r>
              <a:rPr lang="en-US" dirty="0"/>
              <a:t> </a:t>
            </a:r>
            <a:r>
              <a:rPr lang="en-US" dirty="0" err="1"/>
              <a:t>répuration</a:t>
            </a:r>
            <a:r>
              <a:rPr lang="en-US" dirty="0"/>
              <a:t> DC a </a:t>
            </a:r>
            <a:r>
              <a:rPr lang="en-US" dirty="0" err="1"/>
              <a:t>depuis</a:t>
            </a:r>
            <a:r>
              <a:rPr lang="en-US" dirty="0"/>
              <a:t> </a:t>
            </a:r>
            <a:r>
              <a:rPr lang="en-US" dirty="0" err="1"/>
              <a:t>l’instauration</a:t>
            </a:r>
            <a:r>
              <a:rPr lang="en-US" dirty="0"/>
              <a:t> du </a:t>
            </a:r>
            <a:r>
              <a:rPr lang="en-US" dirty="0" err="1"/>
              <a:t>système</a:t>
            </a:r>
            <a:r>
              <a:rPr lang="en-US" dirty="0"/>
              <a:t> Workday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Combien</a:t>
            </a:r>
            <a:r>
              <a:rPr lang="en-US" dirty="0"/>
              <a:t> de temps et </a:t>
            </a:r>
            <a:r>
              <a:rPr lang="en-US" dirty="0" err="1"/>
              <a:t>d’argent</a:t>
            </a:r>
            <a:r>
              <a:rPr lang="en-US" dirty="0"/>
              <a:t> que </a:t>
            </a:r>
            <a:r>
              <a:rPr lang="en-US" dirty="0" err="1"/>
              <a:t>l’on</a:t>
            </a:r>
            <a:r>
              <a:rPr lang="en-US" dirty="0"/>
              <a:t> </a:t>
            </a:r>
            <a:r>
              <a:rPr lang="en-US" dirty="0" err="1"/>
              <a:t>perd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tant RM-PM-DCA 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Qu’elle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la production perdue à cause des </a:t>
            </a:r>
            <a:r>
              <a:rPr lang="en-US" dirty="0" err="1"/>
              <a:t>problemes</a:t>
            </a:r>
            <a:r>
              <a:rPr lang="en-US" dirty="0"/>
              <a:t> </a:t>
            </a:r>
            <a:r>
              <a:rPr lang="en-US" dirty="0" err="1"/>
              <a:t>liés</a:t>
            </a:r>
            <a:r>
              <a:rPr lang="en-US" dirty="0"/>
              <a:t> à Workday 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Perte</a:t>
            </a:r>
            <a:r>
              <a:rPr lang="en-US" dirty="0"/>
              <a:t> </a:t>
            </a:r>
            <a:r>
              <a:rPr lang="en-US" dirty="0" err="1"/>
              <a:t>d’engagement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13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176" y="261280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 err="1">
                <a:solidFill>
                  <a:schemeClr val="accent1"/>
                </a:solidFill>
                <a:latin typeface="+mj-lt"/>
                <a:cs typeface="+mj-cs"/>
              </a:rPr>
              <a:t>Workday</a:t>
            </a:r>
            <a:endParaRPr lang="fr-FR" sz="4400" dirty="0">
              <a:solidFill>
                <a:schemeClr val="accent1"/>
              </a:solidFill>
              <a:latin typeface="+mj-lt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339B9-3934-FB88-0FF9-E8C1E3E36F65}"/>
              </a:ext>
            </a:extLst>
          </p:cNvPr>
          <p:cNvSpPr txBox="1"/>
          <p:nvPr/>
        </p:nvSpPr>
        <p:spPr>
          <a:xfrm>
            <a:off x="808653" y="1596583"/>
            <a:ext cx="92839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u="sng" dirty="0"/>
              <a:t>Solution </a:t>
            </a:r>
          </a:p>
          <a:p>
            <a:r>
              <a:rPr lang="fr-CA" dirty="0"/>
              <a:t> </a:t>
            </a:r>
          </a:p>
          <a:p>
            <a:r>
              <a:rPr lang="fr-CA" dirty="0"/>
              <a:t>Faire un pas en arrière pour en faire plusieurs en avant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dirty="0"/>
              <a:t>S’interroger si le système convient vraiment à DC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CA" dirty="0"/>
              <a:t>La gestion des exceptions est nécessaire pour faire fonctionner l’entreprise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CA" dirty="0"/>
              <a:t>Peut-être admettre que </a:t>
            </a:r>
            <a:r>
              <a:rPr lang="fr-CA" dirty="0" err="1"/>
              <a:t>Workday</a:t>
            </a:r>
            <a:r>
              <a:rPr lang="fr-CA" dirty="0"/>
              <a:t> n’est pas le système idéal qu’il nous faut ?</a:t>
            </a:r>
          </a:p>
          <a:p>
            <a:pPr marL="714375" lvl="2" indent="-285750">
              <a:buFont typeface="Arial" panose="020B0604020202020204" pitchFamily="34" charset="0"/>
              <a:buChar char="•"/>
            </a:pPr>
            <a:r>
              <a:rPr lang="fr-CA" dirty="0"/>
              <a:t>Trouver une façon d’anticiper les problèmes et d’être pro-actif dans leur solution</a:t>
            </a:r>
          </a:p>
          <a:p>
            <a:pPr marL="714375" lvl="2" indent="-285750">
              <a:buFont typeface="Arial" panose="020B0604020202020204" pitchFamily="34" charset="0"/>
              <a:buChar char="•"/>
            </a:pPr>
            <a:r>
              <a:rPr lang="fr-CA" dirty="0"/>
              <a:t>Mettre en place une équipe sénior, apte à répondre à tous les problèmes rapidement</a:t>
            </a:r>
          </a:p>
          <a:p>
            <a:pPr marL="714375" lvl="2" indent="-285750">
              <a:buFont typeface="Arial" panose="020B0604020202020204" pitchFamily="34" charset="0"/>
              <a:buChar char="•"/>
            </a:pPr>
            <a:r>
              <a:rPr lang="fr-CA" dirty="0"/>
              <a:t>Un plan en arborescence pour prévenir l’imprévisible</a:t>
            </a:r>
          </a:p>
        </p:txBody>
      </p:sp>
    </p:spTree>
    <p:extLst>
      <p:ext uri="{BB962C8B-B14F-4D97-AF65-F5344CB8AC3E}">
        <p14:creationId xmlns:p14="http://schemas.microsoft.com/office/powerpoint/2010/main" val="625282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01" y="217737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>
                <a:solidFill>
                  <a:schemeClr val="accent1"/>
                </a:solidFill>
                <a:latin typeface="+mj-lt"/>
                <a:cs typeface="+mj-cs"/>
              </a:rPr>
              <a:t>2-Révision du systèmes de billets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339B9-3934-FB88-0FF9-E8C1E3E36F65}"/>
              </a:ext>
            </a:extLst>
          </p:cNvPr>
          <p:cNvSpPr txBox="1"/>
          <p:nvPr/>
        </p:nvSpPr>
        <p:spPr>
          <a:xfrm>
            <a:off x="834778" y="1596583"/>
            <a:ext cx="92839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u="sng" dirty="0"/>
              <a:t>Problème </a:t>
            </a:r>
          </a:p>
          <a:p>
            <a:r>
              <a:rPr lang="fr-CA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dirty="0"/>
              <a:t>Langue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CA" dirty="0"/>
              <a:t>Les communications sont difficiles avec DCA parce que la langue est un enjeu.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CA" dirty="0"/>
              <a:t>Pas assez de francophones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fr-CA" dirty="0"/>
              <a:t>Des erreurs d’interprétation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fr-CA" dirty="0"/>
              <a:t>Mauvaise résolution de problème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fr-CA" dirty="0"/>
              <a:t>Des billets fermés et sans soutien ou suivi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fr-CA" dirty="0"/>
              <a:t>Entraine des délais de réponse supérieur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endParaRPr lang="fr-CA" dirty="0"/>
          </a:p>
          <a:p>
            <a:pPr lvl="3"/>
            <a:endParaRPr lang="fr-CA" dirty="0"/>
          </a:p>
          <a:p>
            <a:pPr marL="1657350" lvl="3" indent="-285750">
              <a:buFont typeface="Wingdings" panose="05000000000000000000" pitchFamily="2" charset="2"/>
              <a:buChar char="Ø"/>
            </a:pPr>
            <a:endParaRPr lang="fr-CA" dirty="0"/>
          </a:p>
        </p:txBody>
      </p:sp>
      <p:cxnSp>
        <p:nvCxnSpPr>
          <p:cNvPr id="3" name="Connecteur : en angle 2">
            <a:extLst>
              <a:ext uri="{FF2B5EF4-FFF2-40B4-BE49-F238E27FC236}">
                <a16:creationId xmlns:a16="http://schemas.microsoft.com/office/drawing/2014/main" id="{43BE49FB-04D5-4EF1-E12A-DA03737C43ED}"/>
              </a:ext>
            </a:extLst>
          </p:cNvPr>
          <p:cNvCxnSpPr/>
          <p:nvPr/>
        </p:nvCxnSpPr>
        <p:spPr>
          <a:xfrm>
            <a:off x="2412275" y="4650377"/>
            <a:ext cx="1532708" cy="452846"/>
          </a:xfrm>
          <a:prstGeom prst="bentConnector3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91EC01C7-F952-77F2-1DD5-68604327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855" y="4199000"/>
            <a:ext cx="3318289" cy="212483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1974DD1-518C-90D2-576B-3230B2FC0F01}"/>
              </a:ext>
            </a:extLst>
          </p:cNvPr>
          <p:cNvSpPr txBox="1"/>
          <p:nvPr/>
        </p:nvSpPr>
        <p:spPr>
          <a:xfrm>
            <a:off x="7803023" y="4768823"/>
            <a:ext cx="3135085" cy="307777"/>
          </a:xfrm>
          <a:prstGeom prst="rect">
            <a:avLst/>
          </a:prstGeom>
          <a:noFill/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sz="1400" dirty="0"/>
              <a:t>Toujours pas résolue à ce jour</a:t>
            </a:r>
          </a:p>
        </p:txBody>
      </p:sp>
    </p:spTree>
    <p:extLst>
      <p:ext uri="{BB962C8B-B14F-4D97-AF65-F5344CB8AC3E}">
        <p14:creationId xmlns:p14="http://schemas.microsoft.com/office/powerpoint/2010/main" val="2700661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01" y="217737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>
                <a:solidFill>
                  <a:schemeClr val="accent1"/>
                </a:solidFill>
                <a:latin typeface="+mj-lt"/>
                <a:cs typeface="+mj-cs"/>
              </a:rPr>
              <a:t>2-Révision du systèmes de billets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339B9-3934-FB88-0FF9-E8C1E3E36F65}"/>
              </a:ext>
            </a:extLst>
          </p:cNvPr>
          <p:cNvSpPr txBox="1"/>
          <p:nvPr/>
        </p:nvSpPr>
        <p:spPr>
          <a:xfrm>
            <a:off x="834778" y="1596583"/>
            <a:ext cx="92839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u="sng" dirty="0"/>
              <a:t>Problème </a:t>
            </a:r>
          </a:p>
          <a:p>
            <a:r>
              <a:rPr lang="fr-CA" dirty="0"/>
              <a:t> 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endParaRPr lang="fr-CA" dirty="0"/>
          </a:p>
          <a:p>
            <a:pPr lvl="3"/>
            <a:endParaRPr lang="fr-CA" dirty="0"/>
          </a:p>
          <a:p>
            <a:pPr marL="1657350" lvl="3" indent="-285750">
              <a:buFont typeface="Wingdings" panose="05000000000000000000" pitchFamily="2" charset="2"/>
              <a:buChar char="Ø"/>
            </a:pPr>
            <a:endParaRPr lang="fr-CA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190E6A9-7DD4-4DC5-7060-25F2D6C8E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714" y="2703134"/>
            <a:ext cx="3317507" cy="363346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ED606E1-9EFD-90CC-8018-42497A399D96}"/>
              </a:ext>
            </a:extLst>
          </p:cNvPr>
          <p:cNvSpPr txBox="1"/>
          <p:nvPr/>
        </p:nvSpPr>
        <p:spPr>
          <a:xfrm>
            <a:off x="948301" y="2117558"/>
            <a:ext cx="4923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Demande de modification de contrat pour une gestionnaire. </a:t>
            </a:r>
          </a:p>
          <a:p>
            <a:endParaRPr lang="fr-CA" dirty="0"/>
          </a:p>
          <a:p>
            <a:r>
              <a:rPr lang="fr-CA" dirty="0"/>
              <a:t>Non-résolut ni même consulté.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AE6919A-55AF-1498-3B23-67BC135A8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611" y="2717722"/>
            <a:ext cx="2419688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5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01" y="217737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>
                <a:solidFill>
                  <a:schemeClr val="accent1"/>
                </a:solidFill>
                <a:latin typeface="+mj-lt"/>
                <a:cs typeface="+mj-cs"/>
              </a:rPr>
              <a:t>2-Révision du systèmes de billets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339B9-3934-FB88-0FF9-E8C1E3E36F65}"/>
              </a:ext>
            </a:extLst>
          </p:cNvPr>
          <p:cNvSpPr txBox="1"/>
          <p:nvPr/>
        </p:nvSpPr>
        <p:spPr>
          <a:xfrm>
            <a:off x="834778" y="1596583"/>
            <a:ext cx="92839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u="sng" dirty="0"/>
              <a:t>Problèmes </a:t>
            </a:r>
          </a:p>
          <a:p>
            <a:r>
              <a:rPr lang="fr-CA" dirty="0"/>
              <a:t> 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endParaRPr lang="fr-CA" dirty="0"/>
          </a:p>
          <a:p>
            <a:pPr lvl="3"/>
            <a:endParaRPr lang="fr-CA" dirty="0"/>
          </a:p>
          <a:p>
            <a:pPr marL="1657350" lvl="3" indent="-285750">
              <a:buFont typeface="Wingdings" panose="05000000000000000000" pitchFamily="2" charset="2"/>
              <a:buChar char="Ø"/>
            </a:pPr>
            <a:endParaRPr lang="fr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3F405D-E4A6-B62E-8CEA-04D372FB9B54}"/>
              </a:ext>
            </a:extLst>
          </p:cNvPr>
          <p:cNvSpPr/>
          <p:nvPr/>
        </p:nvSpPr>
        <p:spPr>
          <a:xfrm>
            <a:off x="948301" y="5381897"/>
            <a:ext cx="9170436" cy="10444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ED606E1-9EFD-90CC-8018-42497A399D96}"/>
              </a:ext>
            </a:extLst>
          </p:cNvPr>
          <p:cNvSpPr txBox="1"/>
          <p:nvPr/>
        </p:nvSpPr>
        <p:spPr>
          <a:xfrm>
            <a:off x="948302" y="2100141"/>
            <a:ext cx="92839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Les délais sont monstrueux tel que le démontre les exemples suivants.  D’autres exemples sont disponibles à la demande. </a:t>
            </a:r>
          </a:p>
          <a:p>
            <a:endParaRPr lang="fr-CA" dirty="0"/>
          </a:p>
          <a:p>
            <a:r>
              <a:rPr lang="fr-CA" dirty="0"/>
              <a:t>Dans plusieurs cas, l’intervention de VP ou DO ou encore DRH est nécessaire pour résoudre un billet.  </a:t>
            </a:r>
          </a:p>
          <a:p>
            <a:endParaRPr lang="fr-CA" dirty="0"/>
          </a:p>
          <a:p>
            <a:r>
              <a:rPr lang="fr-CA" dirty="0"/>
              <a:t>Quel temps précieux les membres de la direction perde ainsi que les PM et RM à escalader encore et encore les billets. </a:t>
            </a:r>
          </a:p>
          <a:p>
            <a:endParaRPr lang="fr-CA" dirty="0"/>
          </a:p>
          <a:p>
            <a:r>
              <a:rPr lang="fr-CA" dirty="0"/>
              <a:t>La résolution des tickets se fait en silo.  Des réponses sont données en oppositions l’une aux autres. Un protocole de résolution de problème devrait être partagée entre département. </a:t>
            </a:r>
          </a:p>
          <a:p>
            <a:endParaRPr lang="fr-CA" dirty="0"/>
          </a:p>
          <a:p>
            <a:r>
              <a:rPr lang="fr-CA" dirty="0"/>
              <a:t>Par exemple : lors d’une cessation d’emploi, les TI + </a:t>
            </a:r>
            <a:r>
              <a:rPr lang="fr-CA" dirty="0" err="1"/>
              <a:t>Workday</a:t>
            </a:r>
            <a:r>
              <a:rPr lang="fr-CA" dirty="0"/>
              <a:t> + Paie + DC </a:t>
            </a:r>
            <a:r>
              <a:rPr lang="fr-CA" dirty="0" err="1"/>
              <a:t>Market</a:t>
            </a:r>
            <a:r>
              <a:rPr lang="fr-CA" dirty="0"/>
              <a:t> + RH (Talent) et autres départements savent retirer les accès de l’ex-employé et activer le processus de recrutement</a:t>
            </a:r>
          </a:p>
        </p:txBody>
      </p:sp>
    </p:spTree>
    <p:extLst>
      <p:ext uri="{BB962C8B-B14F-4D97-AF65-F5344CB8AC3E}">
        <p14:creationId xmlns:p14="http://schemas.microsoft.com/office/powerpoint/2010/main" val="1245006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01" y="217737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>
                <a:solidFill>
                  <a:schemeClr val="accent1"/>
                </a:solidFill>
                <a:latin typeface="+mj-lt"/>
                <a:cs typeface="+mj-cs"/>
              </a:rPr>
              <a:t>2-Révision du systèmes de billets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339B9-3934-FB88-0FF9-E8C1E3E36F65}"/>
              </a:ext>
            </a:extLst>
          </p:cNvPr>
          <p:cNvSpPr txBox="1"/>
          <p:nvPr/>
        </p:nvSpPr>
        <p:spPr>
          <a:xfrm>
            <a:off x="834778" y="1596583"/>
            <a:ext cx="92839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u="sng" dirty="0"/>
              <a:t>Solutions </a:t>
            </a:r>
          </a:p>
          <a:p>
            <a:r>
              <a:rPr lang="fr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Décentralisation des opérations et répartitions des différents département par clinique.</a:t>
            </a:r>
          </a:p>
          <a:p>
            <a:endParaRPr lang="fr-CA" dirty="0"/>
          </a:p>
          <a:p>
            <a:r>
              <a:rPr lang="fr-CA" dirty="0"/>
              <a:t>Équipe 1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endParaRPr lang="fr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F52E44-7DB1-EA01-04F4-016149BD0F90}"/>
              </a:ext>
            </a:extLst>
          </p:cNvPr>
          <p:cNvSpPr/>
          <p:nvPr/>
        </p:nvSpPr>
        <p:spPr>
          <a:xfrm>
            <a:off x="1271469" y="3139441"/>
            <a:ext cx="1088572" cy="3831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CB93E5-B833-273F-0EB1-BDBB56CF7DD1}"/>
              </a:ext>
            </a:extLst>
          </p:cNvPr>
          <p:cNvSpPr/>
          <p:nvPr/>
        </p:nvSpPr>
        <p:spPr>
          <a:xfrm>
            <a:off x="2496437" y="3146259"/>
            <a:ext cx="1088572" cy="3831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66ABF4-D7EB-1342-461E-E3C0A56B43C6}"/>
              </a:ext>
            </a:extLst>
          </p:cNvPr>
          <p:cNvSpPr/>
          <p:nvPr/>
        </p:nvSpPr>
        <p:spPr>
          <a:xfrm>
            <a:off x="3766120" y="3139441"/>
            <a:ext cx="1088572" cy="3831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Talent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E1E628-C634-7C2B-D93A-8B9D6C4A885A}"/>
              </a:ext>
            </a:extLst>
          </p:cNvPr>
          <p:cNvSpPr/>
          <p:nvPr/>
        </p:nvSpPr>
        <p:spPr>
          <a:xfrm>
            <a:off x="5007428" y="3139441"/>
            <a:ext cx="1088572" cy="3831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Workday</a:t>
            </a:r>
            <a:endParaRPr lang="fr-CA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CBD468-F4B9-7D08-8CB7-02D3874938D9}"/>
              </a:ext>
            </a:extLst>
          </p:cNvPr>
          <p:cNvSpPr/>
          <p:nvPr/>
        </p:nvSpPr>
        <p:spPr>
          <a:xfrm>
            <a:off x="6232396" y="3123914"/>
            <a:ext cx="1088572" cy="3831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Paie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603EB27-48A2-8555-EEAF-E699BBF34D27}"/>
              </a:ext>
            </a:extLst>
          </p:cNvPr>
          <p:cNvSpPr txBox="1"/>
          <p:nvPr/>
        </p:nvSpPr>
        <p:spPr>
          <a:xfrm>
            <a:off x="2669943" y="3642110"/>
            <a:ext cx="3974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Attribution de cliniques spécifiques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DC52A6D-3004-75BB-4EEC-58864417AFE8}"/>
              </a:ext>
            </a:extLst>
          </p:cNvPr>
          <p:cNvSpPr txBox="1"/>
          <p:nvPr/>
        </p:nvSpPr>
        <p:spPr>
          <a:xfrm>
            <a:off x="3300211" y="4038812"/>
            <a:ext cx="2020389" cy="3831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fr-fr"/>
            </a:defPPr>
            <a:lvl1pPr algn="ctr"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CA" dirty="0" err="1"/>
              <a:t>Dentarius</a:t>
            </a:r>
            <a:r>
              <a:rPr lang="fr-CA" dirty="0"/>
              <a:t> et Viva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041F709-E5EE-3054-4261-CBCA063F7076}"/>
              </a:ext>
            </a:extLst>
          </p:cNvPr>
          <p:cNvSpPr txBox="1"/>
          <p:nvPr/>
        </p:nvSpPr>
        <p:spPr>
          <a:xfrm>
            <a:off x="834778" y="4578816"/>
            <a:ext cx="116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Équipe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7C484-E908-C5FE-0545-BE7C106DAC87}"/>
              </a:ext>
            </a:extLst>
          </p:cNvPr>
          <p:cNvSpPr/>
          <p:nvPr/>
        </p:nvSpPr>
        <p:spPr>
          <a:xfrm>
            <a:off x="1188739" y="5063586"/>
            <a:ext cx="1088572" cy="3831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8170B8-E6DB-89B9-33D8-7ABD5047BE2C}"/>
              </a:ext>
            </a:extLst>
          </p:cNvPr>
          <p:cNvSpPr/>
          <p:nvPr/>
        </p:nvSpPr>
        <p:spPr>
          <a:xfrm>
            <a:off x="2487244" y="5079113"/>
            <a:ext cx="1088572" cy="3831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78C63-84BC-2F27-EFAA-A935A049F6D6}"/>
              </a:ext>
            </a:extLst>
          </p:cNvPr>
          <p:cNvSpPr/>
          <p:nvPr/>
        </p:nvSpPr>
        <p:spPr>
          <a:xfrm>
            <a:off x="3766120" y="5079113"/>
            <a:ext cx="1088572" cy="3831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Talent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B6E190-818D-A84E-8CA1-D51706F854C5}"/>
              </a:ext>
            </a:extLst>
          </p:cNvPr>
          <p:cNvSpPr/>
          <p:nvPr/>
        </p:nvSpPr>
        <p:spPr>
          <a:xfrm>
            <a:off x="5027346" y="5074733"/>
            <a:ext cx="1088572" cy="3831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Workdat</a:t>
            </a:r>
            <a:endParaRPr lang="fr-CA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A1496E-CE97-22DB-8357-F005A4AC629B}"/>
              </a:ext>
            </a:extLst>
          </p:cNvPr>
          <p:cNvSpPr/>
          <p:nvPr/>
        </p:nvSpPr>
        <p:spPr>
          <a:xfrm>
            <a:off x="6288573" y="5063586"/>
            <a:ext cx="1088572" cy="3831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Paie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FC44E83-4D1B-3EC9-5892-BF226D23B85D}"/>
              </a:ext>
            </a:extLst>
          </p:cNvPr>
          <p:cNvSpPr txBox="1"/>
          <p:nvPr/>
        </p:nvSpPr>
        <p:spPr>
          <a:xfrm>
            <a:off x="3195708" y="5688788"/>
            <a:ext cx="2551949" cy="3831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fr-fr"/>
            </a:defPPr>
            <a:lvl1pPr algn="ctr"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CA" dirty="0"/>
              <a:t>Cliniques Alex / Joffrey</a:t>
            </a:r>
          </a:p>
        </p:txBody>
      </p:sp>
    </p:spTree>
    <p:extLst>
      <p:ext uri="{BB962C8B-B14F-4D97-AF65-F5344CB8AC3E}">
        <p14:creationId xmlns:p14="http://schemas.microsoft.com/office/powerpoint/2010/main" val="1599574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01" y="217737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>
                <a:solidFill>
                  <a:schemeClr val="accent1"/>
                </a:solidFill>
                <a:latin typeface="+mj-lt"/>
                <a:cs typeface="+mj-cs"/>
              </a:rPr>
              <a:t>2-Révision du systèmes de billets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339B9-3934-FB88-0FF9-E8C1E3E36F65}"/>
              </a:ext>
            </a:extLst>
          </p:cNvPr>
          <p:cNvSpPr txBox="1"/>
          <p:nvPr/>
        </p:nvSpPr>
        <p:spPr>
          <a:xfrm>
            <a:off x="834778" y="1596583"/>
            <a:ext cx="92839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u="sng" dirty="0"/>
              <a:t>Solutions </a:t>
            </a:r>
          </a:p>
          <a:p>
            <a:r>
              <a:rPr lang="fr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Décentralisation des opérations et répartitions des différents département par clinique.</a:t>
            </a:r>
          </a:p>
          <a:p>
            <a:endParaRPr lang="fr-CA" dirty="0"/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fr-CA" dirty="0"/>
              <a:t>Les départements moins occupés pourraient avoir une équipe dédiée à tout le Québec mais que les cliniques se partageraient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fr-CA" dirty="0"/>
              <a:t>Si les équipes sont moins occupées, elles pourront venir en aide à leurs collègues des autres provinces tout en privilégiant leurs cliniques du Québec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fr-CA" dirty="0"/>
              <a:t>Le but étant d’offrir un service rapide avec une meilleure compréhension des délais</a:t>
            </a:r>
          </a:p>
        </p:txBody>
      </p:sp>
    </p:spTree>
    <p:extLst>
      <p:ext uri="{BB962C8B-B14F-4D97-AF65-F5344CB8AC3E}">
        <p14:creationId xmlns:p14="http://schemas.microsoft.com/office/powerpoint/2010/main" val="358922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01" y="217737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>
                <a:solidFill>
                  <a:schemeClr val="accent1"/>
                </a:solidFill>
                <a:latin typeface="+mj-lt"/>
                <a:cs typeface="+mj-cs"/>
              </a:rPr>
              <a:t>Le recrutement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339B9-3934-FB88-0FF9-E8C1E3E36F65}"/>
              </a:ext>
            </a:extLst>
          </p:cNvPr>
          <p:cNvSpPr txBox="1"/>
          <p:nvPr/>
        </p:nvSpPr>
        <p:spPr>
          <a:xfrm>
            <a:off x="3048001" y="1576992"/>
            <a:ext cx="552994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fr-CA" sz="2800" dirty="0"/>
              <a:t>C’est le réel problème des cliniques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C6D064B-7D70-C65E-35FC-621982C59176}"/>
              </a:ext>
            </a:extLst>
          </p:cNvPr>
          <p:cNvSpPr txBox="1"/>
          <p:nvPr/>
        </p:nvSpPr>
        <p:spPr>
          <a:xfrm>
            <a:off x="948301" y="2508069"/>
            <a:ext cx="94671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Le développement des cliniques passe avant tout par un recrutement efficace et une rétention que l’on obtient avec de l’engagement et de la loyauté</a:t>
            </a:r>
          </a:p>
          <a:p>
            <a:endParaRPr lang="fr-CA" dirty="0"/>
          </a:p>
          <a:p>
            <a:r>
              <a:rPr lang="fr-CA" u="sng" dirty="0"/>
              <a:t>Problèmes</a:t>
            </a:r>
          </a:p>
          <a:p>
            <a:endParaRPr lang="fr-CA" u="sng" dirty="0"/>
          </a:p>
          <a:p>
            <a:pPr marL="285750" indent="-285750">
              <a:buFontTx/>
              <a:buChar char="-"/>
            </a:pPr>
            <a:r>
              <a:rPr lang="fr-CA" dirty="0"/>
              <a:t>Depuis 2 mois et ½, aucun CV n’a été envoyé par l’équipe de talent</a:t>
            </a:r>
          </a:p>
          <a:p>
            <a:pPr marL="285750" indent="-285750">
              <a:buFontTx/>
              <a:buChar char="-"/>
            </a:pPr>
            <a:r>
              <a:rPr lang="fr-CA" dirty="0"/>
              <a:t>Manque de créativité dans la recherche de solution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fr-CA" dirty="0"/>
              <a:t>Offrir des postes temporaires volants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fr-CA" dirty="0"/>
              <a:t>Utiliser les CV envoyés pour une clinique précises pour combler les postes d’une autre clinique</a:t>
            </a:r>
          </a:p>
          <a:p>
            <a:pPr marL="285750" indent="-285750">
              <a:buFontTx/>
              <a:buChar char="-"/>
            </a:pPr>
            <a:r>
              <a:rPr lang="fr-CA" dirty="0"/>
              <a:t>Manque de communication intra-équipe</a:t>
            </a:r>
          </a:p>
          <a:p>
            <a:pPr marL="285750" indent="-285750">
              <a:buFontTx/>
              <a:buChar char="-"/>
            </a:pPr>
            <a:r>
              <a:rPr lang="fr-CA" dirty="0"/>
              <a:t>Manque de leadership</a:t>
            </a:r>
          </a:p>
          <a:p>
            <a:endParaRPr lang="fr-CA" dirty="0"/>
          </a:p>
          <a:p>
            <a:pPr marL="285750" indent="-285750">
              <a:buFontTx/>
              <a:buChar char="-"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122467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01" y="217737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>
                <a:solidFill>
                  <a:schemeClr val="accent1"/>
                </a:solidFill>
                <a:latin typeface="+mj-lt"/>
                <a:cs typeface="+mj-cs"/>
              </a:rPr>
              <a:t>Le recrutement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339B9-3934-FB88-0FF9-E8C1E3E36F65}"/>
              </a:ext>
            </a:extLst>
          </p:cNvPr>
          <p:cNvSpPr txBox="1"/>
          <p:nvPr/>
        </p:nvSpPr>
        <p:spPr>
          <a:xfrm>
            <a:off x="3048001" y="1576992"/>
            <a:ext cx="552994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fr-CA" sz="2800" dirty="0"/>
              <a:t>C’est le réel problème des cliniques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C6D064B-7D70-C65E-35FC-621982C59176}"/>
              </a:ext>
            </a:extLst>
          </p:cNvPr>
          <p:cNvSpPr txBox="1"/>
          <p:nvPr/>
        </p:nvSpPr>
        <p:spPr>
          <a:xfrm>
            <a:off x="948301" y="2508069"/>
            <a:ext cx="94671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u="sng" dirty="0"/>
              <a:t>Problèmes</a:t>
            </a:r>
          </a:p>
          <a:p>
            <a:endParaRPr lang="fr-CA" u="sng" dirty="0"/>
          </a:p>
          <a:p>
            <a:r>
              <a:rPr lang="fr-CA" dirty="0"/>
              <a:t>Pour l’ensemble des cliniques VIVA, les besoins de base sont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3 secrétaires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5-6 assistantes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4 hygiénistes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6-7 dentistes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3 gestionnaires (PM)</a:t>
            </a:r>
          </a:p>
          <a:p>
            <a:r>
              <a:rPr lang="fr-CA" dirty="0"/>
              <a:t>Si on voulait maximiser les cliniques en fonction des sièges, on pourrait facilement ajouter 2-3 dentistes et 2-3 hygiénistes. </a:t>
            </a:r>
          </a:p>
          <a:p>
            <a:pPr marL="285750" indent="-285750">
              <a:buFontTx/>
              <a:buChar char="-"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871712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01" y="217737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>
                <a:solidFill>
                  <a:schemeClr val="accent1"/>
                </a:solidFill>
                <a:latin typeface="+mj-lt"/>
                <a:cs typeface="+mj-cs"/>
              </a:rPr>
              <a:t>Le recrutement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339B9-3934-FB88-0FF9-E8C1E3E36F65}"/>
              </a:ext>
            </a:extLst>
          </p:cNvPr>
          <p:cNvSpPr txBox="1"/>
          <p:nvPr/>
        </p:nvSpPr>
        <p:spPr>
          <a:xfrm>
            <a:off x="3048001" y="1576992"/>
            <a:ext cx="552994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fr-CA" sz="2800" dirty="0"/>
              <a:t>C’est le réel problème des cliniques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C6D064B-7D70-C65E-35FC-621982C59176}"/>
              </a:ext>
            </a:extLst>
          </p:cNvPr>
          <p:cNvSpPr txBox="1"/>
          <p:nvPr/>
        </p:nvSpPr>
        <p:spPr>
          <a:xfrm>
            <a:off x="948301" y="2311498"/>
            <a:ext cx="94671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u="sng" dirty="0"/>
              <a:t>Problèmes</a:t>
            </a:r>
          </a:p>
          <a:p>
            <a:endParaRPr lang="fr-CA" u="sng" dirty="0"/>
          </a:p>
          <a:p>
            <a:r>
              <a:rPr lang="fr-CA" dirty="0"/>
              <a:t>Les besoins sont là : de 3 à 6 mois de liste d’attente pour des </a:t>
            </a:r>
            <a:r>
              <a:rPr lang="fr-CA" b="1" u="sng" dirty="0"/>
              <a:t>nouveaux clients</a:t>
            </a:r>
            <a:r>
              <a:rPr lang="fr-CA" dirty="0"/>
              <a:t>. </a:t>
            </a:r>
          </a:p>
          <a:p>
            <a:r>
              <a:rPr lang="fr-CA" dirty="0"/>
              <a:t>Les nouveaux clients rapportent à eux seuls des visites à 350 $ en moyenne. </a:t>
            </a:r>
          </a:p>
          <a:p>
            <a:endParaRPr lang="fr-CA" dirty="0"/>
          </a:p>
          <a:p>
            <a:r>
              <a:rPr lang="fr-CA" dirty="0"/>
              <a:t>À 8 nouveaux clients par semaine, à 350 $ par visite, on perd plus de </a:t>
            </a:r>
            <a:r>
              <a:rPr lang="fr-CA" b="1" dirty="0"/>
              <a:t>1 456 000 </a:t>
            </a:r>
            <a:r>
              <a:rPr lang="fr-CA" dirty="0"/>
              <a:t>$ par année pour les 10 cliniques Viva et </a:t>
            </a:r>
            <a:r>
              <a:rPr lang="fr-CA" b="1" dirty="0"/>
              <a:t>2 184 000 </a:t>
            </a:r>
            <a:r>
              <a:rPr lang="fr-CA" dirty="0"/>
              <a:t>$ pour les 15 </a:t>
            </a:r>
            <a:r>
              <a:rPr lang="fr-CA" dirty="0" err="1"/>
              <a:t>Dentarius</a:t>
            </a:r>
            <a:r>
              <a:rPr lang="fr-CA" dirty="0"/>
              <a:t>. </a:t>
            </a:r>
          </a:p>
          <a:p>
            <a:r>
              <a:rPr lang="fr-CA" dirty="0"/>
              <a:t>On se doit d’ouvrir des cases à l’horaire exprès pour les nouveaux clients. Alexandre Binette a un très bon business plan à cet effet</a:t>
            </a:r>
          </a:p>
          <a:p>
            <a:endParaRPr lang="fr-CA" dirty="0"/>
          </a:p>
          <a:p>
            <a:r>
              <a:rPr lang="fr-CA" dirty="0"/>
              <a:t>Un meilleur recrutement pourrait allonger nos heures d’ouverture.</a:t>
            </a:r>
          </a:p>
          <a:p>
            <a:r>
              <a:rPr lang="fr-CA" dirty="0"/>
              <a:t>On doit fermer plus tôt souvent car il manque de main-d’œuvre en soirée. Si on pense qu’on pourrait produire 4 heures de plus par jour, 4 jours par semaine, à raison de 3 chaises, avec une moyenne de visite de 250 $ par patient, pour 10 cliniques ou 15 cliniques, on pourrait aller rechercher respectivement </a:t>
            </a:r>
            <a:r>
              <a:rPr lang="fr-CA" b="1" dirty="0"/>
              <a:t>6 240 000 </a:t>
            </a:r>
            <a:r>
              <a:rPr lang="fr-CA" dirty="0"/>
              <a:t>$ et </a:t>
            </a:r>
            <a:r>
              <a:rPr lang="fr-CA" b="1" dirty="0"/>
              <a:t>9 360 000 </a:t>
            </a:r>
            <a:r>
              <a:rPr lang="fr-CA" dirty="0"/>
              <a:t>$ de plus par année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5AF43F9-E463-338F-2DCE-B4D89590D9D9}"/>
              </a:ext>
            </a:extLst>
          </p:cNvPr>
          <p:cNvCxnSpPr/>
          <p:nvPr/>
        </p:nvCxnSpPr>
        <p:spPr>
          <a:xfrm>
            <a:off x="2917372" y="4963885"/>
            <a:ext cx="54254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988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01" y="217737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>
                <a:solidFill>
                  <a:schemeClr val="accent1"/>
                </a:solidFill>
                <a:latin typeface="+mj-lt"/>
                <a:cs typeface="+mj-cs"/>
              </a:rPr>
              <a:t>Le recrutement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339B9-3934-FB88-0FF9-E8C1E3E36F65}"/>
              </a:ext>
            </a:extLst>
          </p:cNvPr>
          <p:cNvSpPr txBox="1"/>
          <p:nvPr/>
        </p:nvSpPr>
        <p:spPr>
          <a:xfrm>
            <a:off x="3048001" y="1576992"/>
            <a:ext cx="552994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fr-CA" sz="2800" dirty="0"/>
              <a:t>C’est le réel problème des cliniques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C6D064B-7D70-C65E-35FC-621982C59176}"/>
              </a:ext>
            </a:extLst>
          </p:cNvPr>
          <p:cNvSpPr txBox="1"/>
          <p:nvPr/>
        </p:nvSpPr>
        <p:spPr>
          <a:xfrm>
            <a:off x="948301" y="2311498"/>
            <a:ext cx="94671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u="sng" dirty="0"/>
              <a:t>Problèmes</a:t>
            </a:r>
          </a:p>
          <a:p>
            <a:endParaRPr lang="fr-CA" dirty="0"/>
          </a:p>
          <a:p>
            <a:r>
              <a:rPr lang="fr-CA" dirty="0"/>
              <a:t>Un meilleur recrutement pourrait allonger nos heures d’ouverture.</a:t>
            </a:r>
          </a:p>
          <a:p>
            <a:endParaRPr lang="fr-CA" dirty="0"/>
          </a:p>
          <a:p>
            <a:r>
              <a:rPr lang="fr-CA" dirty="0"/>
              <a:t>On doit fermer plus tôt souvent car il manque de main-d’œuvre en soirée. Si on pense qu’on pourrait produire 4 heures de plus par jour, 4 jours par semaine, à raison de 3 chaises, avec une moyenne de visite de 250 $ par patient, pour 10 cliniques ou 15 cliniques, on pourrait aller rechercher respectivement </a:t>
            </a:r>
            <a:r>
              <a:rPr lang="fr-CA" b="1" dirty="0"/>
              <a:t>6 240 000 </a:t>
            </a:r>
            <a:r>
              <a:rPr lang="fr-CA" dirty="0"/>
              <a:t>$ et </a:t>
            </a:r>
            <a:r>
              <a:rPr lang="fr-CA" b="1" dirty="0"/>
              <a:t>9 360 000 </a:t>
            </a:r>
            <a:r>
              <a:rPr lang="fr-CA" dirty="0"/>
              <a:t>$ de plus par année</a:t>
            </a:r>
          </a:p>
          <a:p>
            <a:endParaRPr lang="fr-CA" dirty="0"/>
          </a:p>
          <a:p>
            <a:r>
              <a:rPr lang="fr-CA" dirty="0"/>
              <a:t>Ce sont des moyennes basées sur des faits réalistes.  Si toutes les chaises étaient comblées par des producteurs, même si on atteint seulement 50 % des prévisions, l’idée est rentable.</a:t>
            </a:r>
          </a:p>
        </p:txBody>
      </p:sp>
    </p:spTree>
    <p:extLst>
      <p:ext uri="{BB962C8B-B14F-4D97-AF65-F5344CB8AC3E}">
        <p14:creationId xmlns:p14="http://schemas.microsoft.com/office/powerpoint/2010/main" val="3117639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01" y="217737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>
                <a:solidFill>
                  <a:schemeClr val="accent1"/>
                </a:solidFill>
                <a:latin typeface="+mj-lt"/>
                <a:cs typeface="+mj-cs"/>
              </a:rPr>
              <a:t>Le recrutement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339B9-3934-FB88-0FF9-E8C1E3E36F65}"/>
              </a:ext>
            </a:extLst>
          </p:cNvPr>
          <p:cNvSpPr txBox="1"/>
          <p:nvPr/>
        </p:nvSpPr>
        <p:spPr>
          <a:xfrm>
            <a:off x="3048001" y="1576992"/>
            <a:ext cx="552994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fr-CA" sz="2800" dirty="0"/>
              <a:t>C’est le réel problème des cliniques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C6D064B-7D70-C65E-35FC-621982C59176}"/>
              </a:ext>
            </a:extLst>
          </p:cNvPr>
          <p:cNvSpPr txBox="1"/>
          <p:nvPr/>
        </p:nvSpPr>
        <p:spPr>
          <a:xfrm>
            <a:off x="948301" y="2311498"/>
            <a:ext cx="94671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u="sng" dirty="0"/>
              <a:t>Solutions</a:t>
            </a:r>
          </a:p>
          <a:p>
            <a:endParaRPr lang="fr-CA" dirty="0"/>
          </a:p>
          <a:p>
            <a:pPr marL="285750" indent="-285750">
              <a:buBlip>
                <a:blip r:embed="rId3"/>
              </a:buBlip>
            </a:pPr>
            <a:r>
              <a:rPr lang="fr-CA" dirty="0"/>
              <a:t>Temporairement, s’allouer les services d’une firme externe en recrutement et en gestion d’horaire </a:t>
            </a:r>
          </a:p>
          <a:p>
            <a:pPr marL="285750" indent="-285750">
              <a:buBlip>
                <a:blip r:embed="rId3"/>
              </a:buBlip>
            </a:pPr>
            <a:r>
              <a:rPr lang="fr-CA" dirty="0"/>
              <a:t>Servir l’ensemble du Québec</a:t>
            </a:r>
          </a:p>
          <a:p>
            <a:pPr marL="285750" indent="-285750">
              <a:buBlip>
                <a:blip r:embed="rId3"/>
              </a:buBlip>
            </a:pPr>
            <a:r>
              <a:rPr lang="fr-CA" dirty="0"/>
              <a:t>Engager une personne dédiée exclusivement au recrutement Viva et </a:t>
            </a:r>
            <a:r>
              <a:rPr lang="fr-CA" dirty="0" err="1"/>
              <a:t>Dentarius</a:t>
            </a:r>
            <a:endParaRPr lang="fr-CA" dirty="0"/>
          </a:p>
          <a:p>
            <a:pPr marL="285750" indent="-285750">
              <a:buBlip>
                <a:blip r:embed="rId3"/>
              </a:buBlip>
            </a:pPr>
            <a:r>
              <a:rPr lang="fr-CA" dirty="0"/>
              <a:t>Encourager les initiatives des recruteurs en place en sortant des sentiers battus</a:t>
            </a:r>
          </a:p>
          <a:p>
            <a:pPr marL="285750" indent="-285750">
              <a:buBlip>
                <a:blip r:embed="rId3"/>
              </a:buBlip>
            </a:pPr>
            <a:r>
              <a:rPr lang="fr-CA" dirty="0"/>
              <a:t>Mettre en poste un directeur talent</a:t>
            </a:r>
          </a:p>
          <a:p>
            <a:pPr marL="285750" indent="-285750">
              <a:buBlip>
                <a:blip r:embed="rId3"/>
              </a:buBlip>
            </a:pPr>
            <a:r>
              <a:rPr lang="fr-CA" dirty="0"/>
              <a:t>Facilité l’accès aux descriptions de poste et offre d’emploi afin de les partager à travers nos réseaux</a:t>
            </a:r>
          </a:p>
          <a:p>
            <a:pPr marL="285750" indent="-285750">
              <a:buBlip>
                <a:blip r:embed="rId3"/>
              </a:buBlip>
            </a:pPr>
            <a:r>
              <a:rPr lang="fr-CA" dirty="0"/>
              <a:t>Offrir des formations dans des écoles pour faire connaitre </a:t>
            </a:r>
            <a:r>
              <a:rPr lang="fr-CA" dirty="0" err="1"/>
              <a:t>DentalCorp</a:t>
            </a:r>
            <a:r>
              <a:rPr lang="fr-CA" dirty="0"/>
              <a:t>. Sortir de l’ordinaire.</a:t>
            </a:r>
          </a:p>
          <a:p>
            <a:pPr marL="285750" indent="-285750">
              <a:buBlip>
                <a:blip r:embed="rId3"/>
              </a:buBlip>
            </a:pPr>
            <a:r>
              <a:rPr lang="fr-CA" dirty="0"/>
              <a:t>Participer aux foires et salons de l’emploi en tant que conférencier </a:t>
            </a:r>
          </a:p>
          <a:p>
            <a:pPr marL="742950" lvl="1" indent="-285750">
              <a:buBlip>
                <a:blip r:embed="rId3"/>
              </a:buBlip>
            </a:pPr>
            <a:r>
              <a:rPr lang="fr-CA" dirty="0"/>
              <a:t>L’idée est de rejoindre un maximum d’auditeurs en l’espace du moins de temps possible.  Une heure de visibilité en tant que conférencier est plus rentable qu’un kiosque.</a:t>
            </a:r>
          </a:p>
          <a:p>
            <a:pPr marL="285750" indent="-285750">
              <a:buBlip>
                <a:blip r:embed="rId3"/>
              </a:buBlip>
            </a:pPr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17225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01" y="217737"/>
            <a:ext cx="10680544" cy="1147969"/>
          </a:xfrm>
        </p:spPr>
        <p:txBody>
          <a:bodyPr rtlCol="0"/>
          <a:lstStyle/>
          <a:p>
            <a:pPr rtl="0"/>
            <a:r>
              <a:rPr lang="fr-FR" sz="4400" dirty="0">
                <a:solidFill>
                  <a:schemeClr val="accent1"/>
                </a:solidFill>
                <a:latin typeface="+mj-lt"/>
                <a:cs typeface="+mj-cs"/>
              </a:rPr>
              <a:t>Le recrutement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339B9-3934-FB88-0FF9-E8C1E3E36F65}"/>
              </a:ext>
            </a:extLst>
          </p:cNvPr>
          <p:cNvSpPr txBox="1"/>
          <p:nvPr/>
        </p:nvSpPr>
        <p:spPr>
          <a:xfrm>
            <a:off x="3048001" y="1576992"/>
            <a:ext cx="552994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fr-CA" sz="2800" dirty="0"/>
              <a:t>C’est le réel problème des cliniques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C6D064B-7D70-C65E-35FC-621982C59176}"/>
              </a:ext>
            </a:extLst>
          </p:cNvPr>
          <p:cNvSpPr txBox="1"/>
          <p:nvPr/>
        </p:nvSpPr>
        <p:spPr>
          <a:xfrm>
            <a:off x="948301" y="2311498"/>
            <a:ext cx="94671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u="sng" dirty="0"/>
              <a:t>Solutions</a:t>
            </a:r>
          </a:p>
          <a:p>
            <a:endParaRPr lang="fr-CA" dirty="0"/>
          </a:p>
          <a:p>
            <a:pPr marL="285750" indent="-285750">
              <a:buBlip>
                <a:blip r:embed="rId3"/>
              </a:buBlip>
            </a:pPr>
            <a:r>
              <a:rPr lang="fr-CA" dirty="0"/>
              <a:t>Centre d’appels</a:t>
            </a:r>
          </a:p>
          <a:p>
            <a:pPr marL="285750" indent="-285750">
              <a:buBlip>
                <a:blip r:embed="rId3"/>
              </a:buBlip>
            </a:pPr>
            <a:r>
              <a:rPr lang="fr-CA" dirty="0"/>
              <a:t>Le but est d’assurer un meilleur service aux nouveaux clients.	</a:t>
            </a:r>
          </a:p>
          <a:p>
            <a:pPr marL="742950" lvl="1" indent="-285750">
              <a:buBlip>
                <a:blip r:embed="rId3"/>
              </a:buBlip>
            </a:pPr>
            <a:r>
              <a:rPr lang="fr-CA" dirty="0"/>
              <a:t>Meilleures explications des plans de traitement qu’ils magasinent</a:t>
            </a:r>
          </a:p>
          <a:p>
            <a:pPr marL="742950" lvl="1" indent="-285750">
              <a:buBlip>
                <a:blip r:embed="rId3"/>
              </a:buBlip>
            </a:pPr>
            <a:r>
              <a:rPr lang="fr-CA" dirty="0"/>
              <a:t>Ce que les secrétaires n’ont pas le temps de faire ou n’ont pas l’expertise pour le faire</a:t>
            </a:r>
          </a:p>
          <a:p>
            <a:pPr marL="742950" lvl="1" indent="-285750">
              <a:buBlip>
                <a:blip r:embed="rId3"/>
              </a:buBlip>
            </a:pPr>
            <a:r>
              <a:rPr lang="fr-CA" dirty="0"/>
              <a:t>La confiance engendrer par des patients qui magasinent un plan traitement va être décuplée par des explications claires et concises si elles sont dites par une personne qui a le temps de le faire. </a:t>
            </a:r>
          </a:p>
          <a:p>
            <a:pPr marL="0" lvl="1" indent="269875">
              <a:buBlip>
                <a:blip r:embed="rId3"/>
              </a:buBlip>
            </a:pPr>
            <a:r>
              <a:rPr lang="fr-CA" dirty="0"/>
              <a:t>On gagne des nouveaux clients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25874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475328F9-AF56-D07B-0DC3-A766480DE1AE}"/>
              </a:ext>
            </a:extLst>
          </p:cNvPr>
          <p:cNvSpPr txBox="1">
            <a:spLocks/>
          </p:cNvSpPr>
          <p:nvPr/>
        </p:nvSpPr>
        <p:spPr>
          <a:xfrm>
            <a:off x="434520" y="1596583"/>
            <a:ext cx="11322960" cy="48297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endParaRPr lang="fr-FR" dirty="0"/>
          </a:p>
        </p:txBody>
      </p:sp>
      <p:sp>
        <p:nvSpPr>
          <p:cNvPr id="12" name="Titre 13">
            <a:extLst>
              <a:ext uri="{FF2B5EF4-FFF2-40B4-BE49-F238E27FC236}">
                <a16:creationId xmlns:a16="http://schemas.microsoft.com/office/drawing/2014/main" id="{1E34CA63-AD43-94AB-CE23-C769826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81" y="155661"/>
            <a:ext cx="10680544" cy="1147969"/>
          </a:xfrm>
        </p:spPr>
        <p:txBody>
          <a:bodyPr rtlCol="0"/>
          <a:lstStyle/>
          <a:p>
            <a:pPr algn="ctr"/>
            <a:r>
              <a:rPr lang="fr-FR" sz="4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  <a:cs typeface="+mj-cs"/>
              </a:rPr>
              <a:t>Plan d’action Viva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D8F578-B0B4-15AF-BFDB-3BC02EFC14FE}"/>
              </a:ext>
            </a:extLst>
          </p:cNvPr>
          <p:cNvSpPr/>
          <p:nvPr/>
        </p:nvSpPr>
        <p:spPr>
          <a:xfrm>
            <a:off x="4302034" y="1365706"/>
            <a:ext cx="2960915" cy="6198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Julie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6053F0-B4AE-469B-DDFD-69D50B968BD4}"/>
              </a:ext>
            </a:extLst>
          </p:cNvPr>
          <p:cNvSpPr/>
          <p:nvPr/>
        </p:nvSpPr>
        <p:spPr>
          <a:xfrm>
            <a:off x="1206138" y="2370906"/>
            <a:ext cx="2960915" cy="6198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Shannie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92FDEA-B5F6-E872-1996-23219891AE72}"/>
              </a:ext>
            </a:extLst>
          </p:cNvPr>
          <p:cNvSpPr/>
          <p:nvPr/>
        </p:nvSpPr>
        <p:spPr>
          <a:xfrm>
            <a:off x="4327620" y="2362371"/>
            <a:ext cx="2960915" cy="6198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Sophie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9E8F75-0386-9FA2-92A9-F946E1A9D815}"/>
              </a:ext>
            </a:extLst>
          </p:cNvPr>
          <p:cNvSpPr/>
          <p:nvPr/>
        </p:nvSpPr>
        <p:spPr>
          <a:xfrm>
            <a:off x="7515028" y="2370906"/>
            <a:ext cx="2960915" cy="6198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Julie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8C54FC5-0C8C-C753-236A-1F8BDE7409F4}"/>
              </a:ext>
            </a:extLst>
          </p:cNvPr>
          <p:cNvSpPr txBox="1"/>
          <p:nvPr/>
        </p:nvSpPr>
        <p:spPr>
          <a:xfrm>
            <a:off x="653143" y="3338832"/>
            <a:ext cx="188976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fr-fr"/>
            </a:defPPr>
            <a:lvl1pPr algn="ctr"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CA" dirty="0" err="1"/>
              <a:t>Ormstown</a:t>
            </a:r>
            <a:endParaRPr lang="fr-CA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6E3EFD-4642-D783-1348-032464523D2C}"/>
              </a:ext>
            </a:extLst>
          </p:cNvPr>
          <p:cNvSpPr txBox="1"/>
          <p:nvPr/>
        </p:nvSpPr>
        <p:spPr>
          <a:xfrm>
            <a:off x="2660468" y="3318607"/>
            <a:ext cx="188976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fr-fr"/>
            </a:defPPr>
            <a:lvl1pPr algn="ctr"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CA" dirty="0"/>
              <a:t>Vaudreuil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5308955-1ECA-93C2-0B20-1EBD5F9AC6E3}"/>
              </a:ext>
            </a:extLst>
          </p:cNvPr>
          <p:cNvSpPr txBox="1"/>
          <p:nvPr/>
        </p:nvSpPr>
        <p:spPr>
          <a:xfrm>
            <a:off x="653143" y="3986570"/>
            <a:ext cx="188976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fr-fr"/>
            </a:defPPr>
            <a:lvl1pPr algn="ctr"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CA" dirty="0"/>
              <a:t>Alfred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97F12E5-BB4B-B31A-507F-4A2D20C5F4DC}"/>
              </a:ext>
            </a:extLst>
          </p:cNvPr>
          <p:cNvSpPr txBox="1"/>
          <p:nvPr/>
        </p:nvSpPr>
        <p:spPr>
          <a:xfrm>
            <a:off x="2660468" y="3986570"/>
            <a:ext cx="188976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fr-fr"/>
            </a:defPPr>
            <a:lvl1pPr algn="ctr"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CA" dirty="0"/>
              <a:t>St-Pie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49E3543-EC28-E070-F0B3-10C5F2364A23}"/>
              </a:ext>
            </a:extLst>
          </p:cNvPr>
          <p:cNvSpPr txBox="1"/>
          <p:nvPr/>
        </p:nvSpPr>
        <p:spPr>
          <a:xfrm>
            <a:off x="4908213" y="4011442"/>
            <a:ext cx="188976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fr-fr"/>
            </a:defPPr>
            <a:lvl1pPr algn="ctr"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CA" dirty="0"/>
              <a:t>Valleyfield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43F27B7-5A4A-4CA6-9761-C02AA5B90DAE}"/>
              </a:ext>
            </a:extLst>
          </p:cNvPr>
          <p:cNvSpPr txBox="1"/>
          <p:nvPr/>
        </p:nvSpPr>
        <p:spPr>
          <a:xfrm>
            <a:off x="4908213" y="3303996"/>
            <a:ext cx="188976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fr-fr"/>
            </a:defPPr>
            <a:lvl1pPr algn="ctr"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CA" dirty="0"/>
              <a:t>St-Zotique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E5A807D-885F-C710-DFF8-8E4902992663}"/>
              </a:ext>
            </a:extLst>
          </p:cNvPr>
          <p:cNvSpPr txBox="1"/>
          <p:nvPr/>
        </p:nvSpPr>
        <p:spPr>
          <a:xfrm>
            <a:off x="7186413" y="3336191"/>
            <a:ext cx="188976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fr-fr"/>
            </a:defPPr>
            <a:lvl1pPr algn="ctr"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CA" dirty="0"/>
              <a:t>St-Joseph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658713-3604-D209-953A-76FAD768CA4E}"/>
              </a:ext>
            </a:extLst>
          </p:cNvPr>
          <p:cNvSpPr txBox="1"/>
          <p:nvPr/>
        </p:nvSpPr>
        <p:spPr>
          <a:xfrm>
            <a:off x="9225124" y="3336666"/>
            <a:ext cx="188976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fr-fr"/>
            </a:defPPr>
            <a:lvl1pPr algn="ctr"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CA" dirty="0"/>
              <a:t>Cornwall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1E3FF52-B119-8AA1-D7F2-97CE909D53B3}"/>
              </a:ext>
            </a:extLst>
          </p:cNvPr>
          <p:cNvSpPr txBox="1"/>
          <p:nvPr/>
        </p:nvSpPr>
        <p:spPr>
          <a:xfrm>
            <a:off x="7211612" y="3998936"/>
            <a:ext cx="188976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fr-fr"/>
            </a:defPPr>
            <a:lvl1pPr algn="ctr"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CA" dirty="0"/>
              <a:t>Beauharnois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257F858-0D32-956C-871F-627B607014F9}"/>
              </a:ext>
            </a:extLst>
          </p:cNvPr>
          <p:cNvSpPr txBox="1"/>
          <p:nvPr/>
        </p:nvSpPr>
        <p:spPr>
          <a:xfrm>
            <a:off x="9225124" y="3983160"/>
            <a:ext cx="188976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fr-fr"/>
            </a:defPPr>
            <a:lvl1pPr algn="ctr"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CA" dirty="0"/>
              <a:t>St-Constant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3E6CA0C-C429-64E8-B0F0-642BF0595D77}"/>
              </a:ext>
            </a:extLst>
          </p:cNvPr>
          <p:cNvSpPr txBox="1"/>
          <p:nvPr/>
        </p:nvSpPr>
        <p:spPr>
          <a:xfrm>
            <a:off x="8232577" y="4569947"/>
            <a:ext cx="1973861" cy="507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fr-fr"/>
            </a:defPPr>
            <a:lvl1pPr algn="ctr"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CA" dirty="0"/>
              <a:t>St-Hyacinthe </a:t>
            </a:r>
          </a:p>
          <a:p>
            <a:r>
              <a:rPr lang="fr-CA" dirty="0"/>
              <a:t>(à Venir)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78F874F-3799-D9C5-90C8-A1AF991D9B7A}"/>
              </a:ext>
            </a:extLst>
          </p:cNvPr>
          <p:cNvCxnSpPr>
            <a:cxnSpLocks/>
          </p:cNvCxnSpPr>
          <p:nvPr/>
        </p:nvCxnSpPr>
        <p:spPr>
          <a:xfrm flipH="1">
            <a:off x="3048000" y="1863634"/>
            <a:ext cx="1092926" cy="393580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B66DD820-46B5-91B1-D793-31401B272A22}"/>
              </a:ext>
            </a:extLst>
          </p:cNvPr>
          <p:cNvCxnSpPr>
            <a:cxnSpLocks/>
          </p:cNvCxnSpPr>
          <p:nvPr/>
        </p:nvCxnSpPr>
        <p:spPr>
          <a:xfrm>
            <a:off x="5769429" y="2033452"/>
            <a:ext cx="0" cy="256904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E00FD593-59E3-7BC2-B1A9-E705F73127A7}"/>
              </a:ext>
            </a:extLst>
          </p:cNvPr>
          <p:cNvCxnSpPr>
            <a:cxnSpLocks/>
          </p:cNvCxnSpPr>
          <p:nvPr/>
        </p:nvCxnSpPr>
        <p:spPr>
          <a:xfrm flipH="1" flipV="1">
            <a:off x="7494659" y="1864854"/>
            <a:ext cx="1039741" cy="313154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0A6D319B-6546-449D-D098-C2D7186D4DA3}"/>
              </a:ext>
            </a:extLst>
          </p:cNvPr>
          <p:cNvCxnSpPr>
            <a:cxnSpLocks/>
          </p:cNvCxnSpPr>
          <p:nvPr/>
        </p:nvCxnSpPr>
        <p:spPr>
          <a:xfrm>
            <a:off x="5782491" y="3008172"/>
            <a:ext cx="0" cy="256904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D35B70C2-BF78-9C63-F679-0756B17ED526}"/>
              </a:ext>
            </a:extLst>
          </p:cNvPr>
          <p:cNvCxnSpPr>
            <a:cxnSpLocks/>
          </p:cNvCxnSpPr>
          <p:nvPr/>
        </p:nvCxnSpPr>
        <p:spPr>
          <a:xfrm>
            <a:off x="5769429" y="3726256"/>
            <a:ext cx="0" cy="256904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729C8D6-E916-FB94-13F8-5A59DB2765E0}"/>
              </a:ext>
            </a:extLst>
          </p:cNvPr>
          <p:cNvCxnSpPr>
            <a:cxnSpLocks/>
          </p:cNvCxnSpPr>
          <p:nvPr/>
        </p:nvCxnSpPr>
        <p:spPr>
          <a:xfrm flipH="1">
            <a:off x="1409078" y="3060426"/>
            <a:ext cx="572953" cy="219115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6447F3C2-0D22-C4AB-6E48-9F89733EC343}"/>
              </a:ext>
            </a:extLst>
          </p:cNvPr>
          <p:cNvCxnSpPr>
            <a:cxnSpLocks/>
          </p:cNvCxnSpPr>
          <p:nvPr/>
        </p:nvCxnSpPr>
        <p:spPr>
          <a:xfrm flipH="1">
            <a:off x="8037205" y="3031441"/>
            <a:ext cx="497195" cy="200661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10605F60-AEA8-273C-F233-6DBD0A400703}"/>
              </a:ext>
            </a:extLst>
          </p:cNvPr>
          <p:cNvCxnSpPr>
            <a:cxnSpLocks/>
          </p:cNvCxnSpPr>
          <p:nvPr/>
        </p:nvCxnSpPr>
        <p:spPr>
          <a:xfrm flipH="1">
            <a:off x="1206138" y="3747547"/>
            <a:ext cx="407537" cy="214321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241F3B6D-A341-E8BF-77F8-8381E16DD392}"/>
              </a:ext>
            </a:extLst>
          </p:cNvPr>
          <p:cNvCxnSpPr>
            <a:cxnSpLocks/>
          </p:cNvCxnSpPr>
          <p:nvPr/>
        </p:nvCxnSpPr>
        <p:spPr>
          <a:xfrm flipH="1">
            <a:off x="7715791" y="3738499"/>
            <a:ext cx="642829" cy="197901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B55F5FB1-0DA7-0B58-AF4D-7AE6EFC15283}"/>
              </a:ext>
            </a:extLst>
          </p:cNvPr>
          <p:cNvCxnSpPr/>
          <p:nvPr/>
        </p:nvCxnSpPr>
        <p:spPr>
          <a:xfrm>
            <a:off x="3466011" y="317196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56BD7AF0-06D6-FD09-3B38-F0D0628071B7}"/>
              </a:ext>
            </a:extLst>
          </p:cNvPr>
          <p:cNvCxnSpPr/>
          <p:nvPr/>
        </p:nvCxnSpPr>
        <p:spPr>
          <a:xfrm>
            <a:off x="3222171" y="3039934"/>
            <a:ext cx="522515" cy="225142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5EF7F25-D940-C33B-1250-5BEC0308E874}"/>
              </a:ext>
            </a:extLst>
          </p:cNvPr>
          <p:cNvCxnSpPr/>
          <p:nvPr/>
        </p:nvCxnSpPr>
        <p:spPr>
          <a:xfrm>
            <a:off x="3312810" y="3724683"/>
            <a:ext cx="522515" cy="225142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50B712E8-1204-2C69-EB04-DED5191B5DDC}"/>
              </a:ext>
            </a:extLst>
          </p:cNvPr>
          <p:cNvCxnSpPr/>
          <p:nvPr/>
        </p:nvCxnSpPr>
        <p:spPr>
          <a:xfrm>
            <a:off x="9599823" y="3024053"/>
            <a:ext cx="522515" cy="225142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551B0121-41B7-EF58-C83B-576B79522046}"/>
              </a:ext>
            </a:extLst>
          </p:cNvPr>
          <p:cNvCxnSpPr/>
          <p:nvPr/>
        </p:nvCxnSpPr>
        <p:spPr>
          <a:xfrm>
            <a:off x="9886903" y="3732008"/>
            <a:ext cx="522515" cy="225142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DC0F7D26-00A5-7DD8-5449-75EC2E2E3FFD}"/>
              </a:ext>
            </a:extLst>
          </p:cNvPr>
          <p:cNvCxnSpPr>
            <a:cxnSpLocks/>
          </p:cNvCxnSpPr>
          <p:nvPr/>
        </p:nvCxnSpPr>
        <p:spPr>
          <a:xfrm>
            <a:off x="9142622" y="3043008"/>
            <a:ext cx="0" cy="1500929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Accolade ouvrante 51">
            <a:extLst>
              <a:ext uri="{FF2B5EF4-FFF2-40B4-BE49-F238E27FC236}">
                <a16:creationId xmlns:a16="http://schemas.microsoft.com/office/drawing/2014/main" id="{B2D575CC-67EA-4617-0A7D-7F23F92DD0C9}"/>
              </a:ext>
            </a:extLst>
          </p:cNvPr>
          <p:cNvSpPr/>
          <p:nvPr/>
        </p:nvSpPr>
        <p:spPr>
          <a:xfrm rot="16200000">
            <a:off x="5158799" y="-192939"/>
            <a:ext cx="1388588" cy="11001825"/>
          </a:xfrm>
          <a:prstGeom prst="leftBrac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6FE3849-6291-53ED-F81A-E02D409F9C71}"/>
              </a:ext>
            </a:extLst>
          </p:cNvPr>
          <p:cNvSpPr/>
          <p:nvPr/>
        </p:nvSpPr>
        <p:spPr>
          <a:xfrm>
            <a:off x="4372635" y="6082491"/>
            <a:ext cx="2960915" cy="6198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Cédric</a:t>
            </a:r>
          </a:p>
        </p:txBody>
      </p:sp>
    </p:spTree>
    <p:extLst>
      <p:ext uri="{BB962C8B-B14F-4D97-AF65-F5344CB8AC3E}">
        <p14:creationId xmlns:p14="http://schemas.microsoft.com/office/powerpoint/2010/main" val="191446636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8381.tgt.Office_50304536_TF00951641_Win32_OJ112181010.potx" id="{47CC7CAC-2234-4342-8B4F-5BA6282A2530}" vid="{B3218A46-B220-4120-8B2F-5FCFDFD0041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7DD496102B4D449CC82189D3443B8C" ma:contentTypeVersion="2" ma:contentTypeDescription="Crée un document." ma:contentTypeScope="" ma:versionID="802f737cc229aeccfbdcc675c43e4e47">
  <xsd:schema xmlns:xsd="http://www.w3.org/2001/XMLSchema" xmlns:xs="http://www.w3.org/2001/XMLSchema" xmlns:p="http://schemas.microsoft.com/office/2006/metadata/properties" xmlns:ns3="d1037f33-7221-4e61-97e9-409fd19c96d2" targetNamespace="http://schemas.microsoft.com/office/2006/metadata/properties" ma:root="true" ma:fieldsID="7a56eea6c9e90d4eaf196fc746bf7129" ns3:_="">
    <xsd:import namespace="d1037f33-7221-4e61-97e9-409fd19c96d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037f33-7221-4e61-97e9-409fd19c96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9AA90D-A39D-4F83-B1BD-92099B1CAD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627B02-6D39-41FE-A026-35CFEC4EB0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037f33-7221-4e61-97e9-409fd19c96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4D15D6-87BC-477C-8E91-9F90829C2FC8}">
  <ds:schemaRefs>
    <ds:schemaRef ds:uri="http://purl.org/dc/terms/"/>
    <ds:schemaRef ds:uri="http://purl.org/dc/dcmitype/"/>
    <ds:schemaRef ds:uri="d1037f33-7221-4e61-97e9-409fd19c96d2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hexagone claire</Template>
  <TotalTime>398</TotalTime>
  <Words>1233</Words>
  <Application>Microsoft Office PowerPoint</Application>
  <PresentationFormat>Grand écran</PresentationFormat>
  <Paragraphs>207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Gill Sans SemiBold</vt:lpstr>
      <vt:lpstr>Times New Roman</vt:lpstr>
      <vt:lpstr>Wingdings</vt:lpstr>
      <vt:lpstr>Thème Office</vt:lpstr>
      <vt:lpstr>Plan d’action Opération Viva / Dentarius</vt:lpstr>
      <vt:lpstr>Plan d’intervention </vt:lpstr>
      <vt:lpstr>1-Workday</vt:lpstr>
      <vt:lpstr>Workday</vt:lpstr>
      <vt:lpstr>2-Révision du systèmes de billets</vt:lpstr>
      <vt:lpstr>2-Révision du systèmes de billets</vt:lpstr>
      <vt:lpstr>2-Révision du systèmes de billets</vt:lpstr>
      <vt:lpstr>2-Révision du systèmes de billets</vt:lpstr>
      <vt:lpstr>2-Révision du systèmes de billets</vt:lpstr>
      <vt:lpstr>Le recrutement</vt:lpstr>
      <vt:lpstr>Le recrutement</vt:lpstr>
      <vt:lpstr>Le recrutement</vt:lpstr>
      <vt:lpstr>Le recrutement</vt:lpstr>
      <vt:lpstr>Le recrutement</vt:lpstr>
      <vt:lpstr>Le recrutement</vt:lpstr>
      <vt:lpstr>Plan d’action Viva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Guidelines for PMs</dc:title>
  <dc:creator>Nadeau, Francesca</dc:creator>
  <cp:lastModifiedBy>Julie Marion</cp:lastModifiedBy>
  <cp:revision>5</cp:revision>
  <dcterms:created xsi:type="dcterms:W3CDTF">2023-01-23T13:48:40Z</dcterms:created>
  <dcterms:modified xsi:type="dcterms:W3CDTF">2023-01-24T01:51:59Z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0x010100607DD496102B4D449CC82189D3443B8C</vt:lpwstr>
  </property>
</Properties>
</file>